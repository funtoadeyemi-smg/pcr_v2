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7" r:id="rId2"/>
    <p:sldId id="258" r:id="rId3"/>
    <p:sldId id="263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8" r:id="rId14"/>
    <p:sldId id="282" r:id="rId15"/>
    <p:sldId id="270" r:id="rId16"/>
    <p:sldId id="283" r:id="rId17"/>
    <p:sldId id="281" r:id="rId18"/>
    <p:sldId id="279" r:id="rId19"/>
    <p:sldId id="280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4" r:id="rId30"/>
    <p:sldId id="295" r:id="rId31"/>
    <p:sldId id="296" r:id="rId32"/>
    <p:sldId id="297" r:id="rId33"/>
    <p:sldId id="298" r:id="rId34"/>
    <p:sldId id="299" r:id="rId35"/>
    <p:sldId id="300" r:id="rId36"/>
    <p:sldId id="301" r:id="rId37"/>
    <p:sldId id="302" r:id="rId38"/>
    <p:sldId id="275" r:id="rId39"/>
    <p:sldId id="30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521"/>
  </p:normalViewPr>
  <p:slideViewPr>
    <p:cSldViewPr snapToGrid="0">
      <p:cViewPr varScale="1">
        <p:scale>
          <a:sx n="120" d="100"/>
          <a:sy n="120" d="100"/>
        </p:scale>
        <p:origin x="11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DBFB6-267E-E644-B13F-820D227AF2CB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C10DB-EB71-244D-A800-E1424EAF65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195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7" name="Google Shape;47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4" name="Google Shape;4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7" name="Google Shape;4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Updated</a:t>
            </a:r>
            <a:endParaRPr/>
          </a:p>
        </p:txBody>
      </p:sp>
      <p:sp>
        <p:nvSpPr>
          <p:cNvPr id="504" name="Google Shape;5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2ec3d5ed83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513" name="Google Shape;513;g2ec3d5ed83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1" name="Google Shape;56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39cd19c857_1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check on frequency</a:t>
            </a:r>
            <a:endParaRPr/>
          </a:p>
        </p:txBody>
      </p:sp>
      <p:sp>
        <p:nvSpPr>
          <p:cNvPr id="574" name="Google Shape;574;g339cd19c857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39d57e8f9a_0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OK</a:t>
            </a:r>
            <a:endParaRPr/>
          </a:p>
        </p:txBody>
      </p:sp>
      <p:sp>
        <p:nvSpPr>
          <p:cNvPr id="619" name="Google Shape;619;g339d57e8f9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2d8533fe21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b="1" dirty="0"/>
          </a:p>
        </p:txBody>
      </p:sp>
      <p:sp>
        <p:nvSpPr>
          <p:cNvPr id="638" name="Google Shape;638;g32d8533fe21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768c941c3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dirty="0"/>
              <a:t>Note this only considers Meta data since we cannot attribute TikTok sales </a:t>
            </a:r>
            <a:endParaRPr dirty="0"/>
          </a:p>
        </p:txBody>
      </p:sp>
      <p:sp>
        <p:nvSpPr>
          <p:cNvPr id="644" name="Google Shape;644;g3768c941c3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68c941c3c_0_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</p:txBody>
      </p:sp>
      <p:sp>
        <p:nvSpPr>
          <p:cNvPr id="657" name="Google Shape;657;g3768c941c3c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39d57e8f9a_0_2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9" name="Google Shape;669;g339d57e8f9a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02" name="Google Shape;8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39cd19c857_1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20" name="Google Shape;720;g339cd19c857_1_3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1" name="Google Shape;721;g339cd19c857_1_3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7244EAAB-B000-74A4-E4D7-0BBE54AA9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1FB22F7A-38FF-CF5D-631A-9A78D35485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08E8F82C-8E49-B14C-338D-004C1F818A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44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</p:txBody>
      </p:sp>
      <p:sp>
        <p:nvSpPr>
          <p:cNvPr id="846" name="Google Shape;846;g32d8533fe21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854" name="Google Shape;854;g32d8533fe21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>
          <a:extLst>
            <a:ext uri="{FF2B5EF4-FFF2-40B4-BE49-F238E27FC236}">
              <a16:creationId xmlns:a16="http://schemas.microsoft.com/office/drawing/2014/main" id="{C03A37CD-D876-5C90-ACDB-FB7456347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39d57e8f9a_0_272:notes">
            <a:extLst>
              <a:ext uri="{FF2B5EF4-FFF2-40B4-BE49-F238E27FC236}">
                <a16:creationId xmlns:a16="http://schemas.microsoft.com/office/drawing/2014/main" id="{F5C5A927-9D81-0608-8CCB-20F4C5080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9" name="Google Shape;669;g339d57e8f9a_0_272:notes">
            <a:extLst>
              <a:ext uri="{FF2B5EF4-FFF2-40B4-BE49-F238E27FC236}">
                <a16:creationId xmlns:a16="http://schemas.microsoft.com/office/drawing/2014/main" id="{8494470B-BD5A-9BF9-6563-3081288293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704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>
          <a:extLst>
            <a:ext uri="{FF2B5EF4-FFF2-40B4-BE49-F238E27FC236}">
              <a16:creationId xmlns:a16="http://schemas.microsoft.com/office/drawing/2014/main" id="{C81926AA-E2B7-92C4-DEBA-2BA784F1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8:notes">
            <a:extLst>
              <a:ext uri="{FF2B5EF4-FFF2-40B4-BE49-F238E27FC236}">
                <a16:creationId xmlns:a16="http://schemas.microsoft.com/office/drawing/2014/main" id="{4484CB16-4A0B-511E-F16A-CE44F0AFCD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02" name="Google Shape;802;p18:notes">
            <a:extLst>
              <a:ext uri="{FF2B5EF4-FFF2-40B4-BE49-F238E27FC236}">
                <a16:creationId xmlns:a16="http://schemas.microsoft.com/office/drawing/2014/main" id="{B6BBB04B-7421-2ACC-F852-41D382FD08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9624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>
          <a:extLst>
            <a:ext uri="{FF2B5EF4-FFF2-40B4-BE49-F238E27FC236}">
              <a16:creationId xmlns:a16="http://schemas.microsoft.com/office/drawing/2014/main" id="{E07EA5D1-57CB-772D-28AB-80C00FEC5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39cd19c857_1_323:notes">
            <a:extLst>
              <a:ext uri="{FF2B5EF4-FFF2-40B4-BE49-F238E27FC236}">
                <a16:creationId xmlns:a16="http://schemas.microsoft.com/office/drawing/2014/main" id="{DE7A69E7-D441-A3C0-4BB3-26AE59F57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20" name="Google Shape;720;g339cd19c857_1_323:notes">
            <a:extLst>
              <a:ext uri="{FF2B5EF4-FFF2-40B4-BE49-F238E27FC236}">
                <a16:creationId xmlns:a16="http://schemas.microsoft.com/office/drawing/2014/main" id="{6690EB27-A995-920B-2ED1-B4738321F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1" name="Google Shape;721;g339cd19c857_1_323:notes">
            <a:extLst>
              <a:ext uri="{FF2B5EF4-FFF2-40B4-BE49-F238E27FC236}">
                <a16:creationId xmlns:a16="http://schemas.microsoft.com/office/drawing/2014/main" id="{337D81DF-55BF-75E6-1F85-12429754B0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70752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957E8624-6BC3-BFD0-2484-D268803F1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E6AF7CE8-2EE3-1343-0BD6-AC4FE7E316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9B54D396-FE3B-80BF-248F-1144F3EDC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964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77D372BA-AE68-3375-D1D6-1D8E06BBC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15E0CB9F-B6A2-A054-4582-602982E966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863D692D-260A-1542-7C8A-03C5C984C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291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>
          <a:extLst>
            <a:ext uri="{FF2B5EF4-FFF2-40B4-BE49-F238E27FC236}">
              <a16:creationId xmlns:a16="http://schemas.microsoft.com/office/drawing/2014/main" id="{9FF9CEE1-03CB-4E5E-3859-0236524EF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>
            <a:extLst>
              <a:ext uri="{FF2B5EF4-FFF2-40B4-BE49-F238E27FC236}">
                <a16:creationId xmlns:a16="http://schemas.microsoft.com/office/drawing/2014/main" id="{DD75BDF3-0E82-8777-C780-1730318B14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>
            <a:extLst>
              <a:ext uri="{FF2B5EF4-FFF2-40B4-BE49-F238E27FC236}">
                <a16:creationId xmlns:a16="http://schemas.microsoft.com/office/drawing/2014/main" id="{96C082A2-3608-ECF4-4D8D-2CD012255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176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>
          <a:extLst>
            <a:ext uri="{FF2B5EF4-FFF2-40B4-BE49-F238E27FC236}">
              <a16:creationId xmlns:a16="http://schemas.microsoft.com/office/drawing/2014/main" id="{F7E87D63-E70C-1C06-3E58-FEDA2E8C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>
            <a:extLst>
              <a:ext uri="{FF2B5EF4-FFF2-40B4-BE49-F238E27FC236}">
                <a16:creationId xmlns:a16="http://schemas.microsoft.com/office/drawing/2014/main" id="{21C4ECE6-3CA8-4286-D8D5-A97A734772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</p:txBody>
      </p:sp>
      <p:sp>
        <p:nvSpPr>
          <p:cNvPr id="846" name="Google Shape;846;g32d8533fe21_0_44:notes">
            <a:extLst>
              <a:ext uri="{FF2B5EF4-FFF2-40B4-BE49-F238E27FC236}">
                <a16:creationId xmlns:a16="http://schemas.microsoft.com/office/drawing/2014/main" id="{BAC0F953-23AE-F4D3-4FD5-B75A04E2EF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035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C3ACAD66-986D-82F3-8A77-2D500D09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>
            <a:extLst>
              <a:ext uri="{FF2B5EF4-FFF2-40B4-BE49-F238E27FC236}">
                <a16:creationId xmlns:a16="http://schemas.microsoft.com/office/drawing/2014/main" id="{403F7E33-F457-0B2D-FB67-3C8F49A20E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854" name="Google Shape;854;g32d8533fe21_0_51:notes">
            <a:extLst>
              <a:ext uri="{FF2B5EF4-FFF2-40B4-BE49-F238E27FC236}">
                <a16:creationId xmlns:a16="http://schemas.microsoft.com/office/drawing/2014/main" id="{F5D8BC13-D5EA-A05A-0A25-624C500D4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242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>
          <a:extLst>
            <a:ext uri="{FF2B5EF4-FFF2-40B4-BE49-F238E27FC236}">
              <a16:creationId xmlns:a16="http://schemas.microsoft.com/office/drawing/2014/main" id="{B5DFEE9E-3454-4E10-29E9-21FB4643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39d57e8f9a_0_272:notes">
            <a:extLst>
              <a:ext uri="{FF2B5EF4-FFF2-40B4-BE49-F238E27FC236}">
                <a16:creationId xmlns:a16="http://schemas.microsoft.com/office/drawing/2014/main" id="{44422B74-EE68-8DAF-FD88-4D0944C47D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9" name="Google Shape;669;g339d57e8f9a_0_272:notes">
            <a:extLst>
              <a:ext uri="{FF2B5EF4-FFF2-40B4-BE49-F238E27FC236}">
                <a16:creationId xmlns:a16="http://schemas.microsoft.com/office/drawing/2014/main" id="{CCBE9A28-A360-71B2-4E28-741373EFD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0624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2d8533fe21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76" name="Google Shape;876;g32d8533fe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>
          <a:extLst>
            <a:ext uri="{FF2B5EF4-FFF2-40B4-BE49-F238E27FC236}">
              <a16:creationId xmlns:a16="http://schemas.microsoft.com/office/drawing/2014/main" id="{A61F19C2-D873-C501-7D71-1EF11485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39cd19c857_1_323:notes">
            <a:extLst>
              <a:ext uri="{FF2B5EF4-FFF2-40B4-BE49-F238E27FC236}">
                <a16:creationId xmlns:a16="http://schemas.microsoft.com/office/drawing/2014/main" id="{E8603123-2B5A-D63E-2227-CD76D15E8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20" name="Google Shape;720;g339cd19c857_1_323:notes">
            <a:extLst>
              <a:ext uri="{FF2B5EF4-FFF2-40B4-BE49-F238E27FC236}">
                <a16:creationId xmlns:a16="http://schemas.microsoft.com/office/drawing/2014/main" id="{14B8770B-A8BF-4F95-46DF-17E436ED43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21" name="Google Shape;721;g339cd19c857_1_323:notes">
            <a:extLst>
              <a:ext uri="{FF2B5EF4-FFF2-40B4-BE49-F238E27FC236}">
                <a16:creationId xmlns:a16="http://schemas.microsoft.com/office/drawing/2014/main" id="{CCFFDD28-93E4-0DB8-0D06-9796884EDC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33898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A5B2E58F-0A1E-6F32-742F-DE632B33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0C8161BA-A53B-4DF9-CBFA-A60B94887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26FC1084-0484-62A6-2B02-34306D3AE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2382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>
          <a:extLst>
            <a:ext uri="{FF2B5EF4-FFF2-40B4-BE49-F238E27FC236}">
              <a16:creationId xmlns:a16="http://schemas.microsoft.com/office/drawing/2014/main" id="{EE16FB01-A939-42A7-ABE0-1B281AE7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768c941c3c_0_770:notes">
            <a:extLst>
              <a:ext uri="{FF2B5EF4-FFF2-40B4-BE49-F238E27FC236}">
                <a16:creationId xmlns:a16="http://schemas.microsoft.com/office/drawing/2014/main" id="{0523EEDE-4276-A618-D4E6-EFE8E707A4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</p:txBody>
      </p:sp>
      <p:sp>
        <p:nvSpPr>
          <p:cNvPr id="741" name="Google Shape;741;g3768c941c3c_0_770:notes">
            <a:extLst>
              <a:ext uri="{FF2B5EF4-FFF2-40B4-BE49-F238E27FC236}">
                <a16:creationId xmlns:a16="http://schemas.microsoft.com/office/drawing/2014/main" id="{F8F004EF-A495-8883-6AE8-866B6693A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327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>
          <a:extLst>
            <a:ext uri="{FF2B5EF4-FFF2-40B4-BE49-F238E27FC236}">
              <a16:creationId xmlns:a16="http://schemas.microsoft.com/office/drawing/2014/main" id="{A781ADF4-ED95-FF59-655B-B05845326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39cd19c857_1_791:notes">
            <a:extLst>
              <a:ext uri="{FF2B5EF4-FFF2-40B4-BE49-F238E27FC236}">
                <a16:creationId xmlns:a16="http://schemas.microsoft.com/office/drawing/2014/main" id="{C4367DB1-23A3-DDF5-67C8-4373C59703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863" name="Google Shape;863;g339cd19c857_1_791:notes">
            <a:extLst>
              <a:ext uri="{FF2B5EF4-FFF2-40B4-BE49-F238E27FC236}">
                <a16:creationId xmlns:a16="http://schemas.microsoft.com/office/drawing/2014/main" id="{86BCCF06-9693-0C91-E46D-024F224197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4050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>
          <a:extLst>
            <a:ext uri="{FF2B5EF4-FFF2-40B4-BE49-F238E27FC236}">
              <a16:creationId xmlns:a16="http://schemas.microsoft.com/office/drawing/2014/main" id="{104F281E-4C63-1442-02EA-0C4F87D8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g32d8533fe21_0_44:notes">
            <a:extLst>
              <a:ext uri="{FF2B5EF4-FFF2-40B4-BE49-F238E27FC236}">
                <a16:creationId xmlns:a16="http://schemas.microsoft.com/office/drawing/2014/main" id="{30B9234A-23AD-487E-AE29-15D1B225A2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</p:txBody>
      </p:sp>
      <p:sp>
        <p:nvSpPr>
          <p:cNvPr id="846" name="Google Shape;846;g32d8533fe21_0_44:notes">
            <a:extLst>
              <a:ext uri="{FF2B5EF4-FFF2-40B4-BE49-F238E27FC236}">
                <a16:creationId xmlns:a16="http://schemas.microsoft.com/office/drawing/2014/main" id="{C12DB6CD-BD67-79CF-970D-F1CD847CB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3282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>
          <a:extLst>
            <a:ext uri="{FF2B5EF4-FFF2-40B4-BE49-F238E27FC236}">
              <a16:creationId xmlns:a16="http://schemas.microsoft.com/office/drawing/2014/main" id="{7744329D-D9D7-E1D7-16E3-588C418D7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2d8533fe21_0_51:notes">
            <a:extLst>
              <a:ext uri="{FF2B5EF4-FFF2-40B4-BE49-F238E27FC236}">
                <a16:creationId xmlns:a16="http://schemas.microsoft.com/office/drawing/2014/main" id="{2FA2744B-2E25-5446-A5D9-4EF220C21F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dirty="0"/>
              <a:t>updated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</p:txBody>
      </p:sp>
      <p:sp>
        <p:nvSpPr>
          <p:cNvPr id="854" name="Google Shape;854;g32d8533fe21_0_51:notes">
            <a:extLst>
              <a:ext uri="{FF2B5EF4-FFF2-40B4-BE49-F238E27FC236}">
                <a16:creationId xmlns:a16="http://schemas.microsoft.com/office/drawing/2014/main" id="{2CC44BE0-EC69-C3F9-149E-8ECC716E67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70848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g339d57e8f9a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47" name="Google Shape;847;g339d57e8f9a_0_2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8" name="Google Shape;848;g339d57e8f9a_0_2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768c941c3c_0_2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854" name="Google Shape;854;g3768c941c3c_0_2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39d57e8f9a_0_2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/>
          </a:p>
        </p:txBody>
      </p:sp>
      <p:sp>
        <p:nvSpPr>
          <p:cNvPr id="777" name="Google Shape;777;g339d57e8f9a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6" name="Google Shape;8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DCECA-8AD7-64FC-E3F9-AAAA883DAD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04054-3459-0DDD-AB7D-F851FE473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AD35F-E505-7D61-AD8B-504D45041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50BBA-04EB-7830-E6E6-93886F580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234C2-52D3-DF4D-F99E-8A49C599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602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ED8FD-77E9-94DE-2DCF-B4E1D5E34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1695F-CDAA-D8C1-8C9E-8D9BB6FD9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44320-BC59-B5D7-D0EE-2565AD9A0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08409-9738-80A4-697D-2BC89728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3EBF9-894E-07CB-89CD-987C114DA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60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C9FF1-B8C7-2C7F-7DEC-60AE0EEF6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74E40-00C1-9ADE-71B2-359A45F20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14AB0-CC01-012A-6BC7-896052DA4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A3B65-8400-AE70-3F78-E2EE61AB4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6DC69-A5EC-C051-F3E6-38102E027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4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DA7CD-13DC-73BA-4B9E-0257C49E3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C010A-F1E2-26BE-C44D-58850C21A1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1BC485-FB3B-6753-8262-47E2C1EA0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DBDBE-AB75-404D-C866-C78CE7D7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C424F-D045-25A1-5BFE-266FD948F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741513-4F86-9A33-B6ED-08DE71C5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66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DC0B-7916-1EAD-FAEF-9C0883662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3B55C-E05E-488C-5D85-6B230BF11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568FF-B43A-9819-3F63-0C3C080FD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FC0AD0-2CD1-9AB2-5DEA-B4E1F43F2B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2D8DD-B16B-F794-B5F7-3CEE854317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B51EC0-CE24-AAD9-71D2-668263D7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876A6B-E140-DBAA-DC9B-99E32726E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FAEC3-5113-79D3-8F05-ED6159533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2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5DAFE-A9B2-1A08-C939-7FC6BB83D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FF5C01-136D-B142-34B7-7D64CF665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E7BF3-2913-D4DC-C3A3-1EE65F596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1A81C9-EF77-D1F4-B752-678BB4EED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18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DF90B-F63B-4184-BE94-F8F1719B8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7B847A-61C3-2ACB-AEB8-0076B174D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E49EC-4FB2-295A-D660-C1BDFD88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43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55B7-0C04-D936-A3A0-40DD30D01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043B8-D50E-C2E9-26C9-22F45BD3B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C582F1-15D5-9710-E7F9-679960520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16A7F-70C9-D53A-C00F-C2A677A11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D0E66-2069-AF72-EDAC-F375EDB3E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D07F6-8830-A985-09CC-642C57D35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34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A65A-5D03-8714-EEBE-5BBE19B2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B8B4D-132D-2475-7EEA-AB8FD67034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BB8CA-6F04-4BB4-86D4-8721953081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B11C3-1641-65D0-232A-2835C1B94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2BCE0-0551-640B-8406-01DBC51C5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0F7CB3-8168-B7A7-6B94-957210E7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29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A1E32-8A5C-229D-121D-44EC253F9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9E696-27F0-DD88-3D63-F268044A4A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D5C30F-41AC-DD2A-5E0A-0C41B8F20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812A4-06B7-3246-4285-D346F9D17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73DA3-9BF4-7F74-171C-E26A65D6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174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100388-8E50-7437-4974-3D51ED281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8F14D3-99AC-9FC5-0798-599AC8967A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DC1FD-DE75-4959-8233-C7D25ABF5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0B885-FB11-BE6B-3561-E191E6BA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D13B9-66E0-2E09-3A10-7294D5597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021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hite" type="title">
  <p:cSld name="Title slide Whit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3c9240afdf_0_20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" name="Google Shape;31;g33c9240afdf_0_2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g33c9240afdf_0_20"/>
          <p:cNvSpPr/>
          <p:nvPr/>
        </p:nvSpPr>
        <p:spPr>
          <a:xfrm>
            <a:off x="928733" y="1786467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201D5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" name="Google Shape;33;g33c9240afdf_0_20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5100"/>
              <a:buNone/>
              <a:defRPr sz="51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34" name="Google Shape;34;g33c9240afdf_0_20"/>
          <p:cNvSpPr txBox="1">
            <a:spLocks noGrp="1"/>
          </p:cNvSpPr>
          <p:nvPr>
            <p:ph type="title" idx="2"/>
          </p:nvPr>
        </p:nvSpPr>
        <p:spPr>
          <a:xfrm>
            <a:off x="6200600" y="5660000"/>
            <a:ext cx="5488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2400"/>
              <a:buFont typeface="Poppins SemiBold"/>
              <a:buNone/>
              <a:defRPr sz="2400" b="0">
                <a:solidFill>
                  <a:srgbClr val="1B185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35" name="Google Shape;35;g33c9240afdf_0_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g33c9240afdf_0_20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639290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>
  <p:cSld name="1">
    <p:bg>
      <p:bgPr>
        <a:solidFill>
          <a:schemeClr val="lt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3c9240afdf_0_36"/>
          <p:cNvSpPr/>
          <p:nvPr/>
        </p:nvSpPr>
        <p:spPr>
          <a:xfrm>
            <a:off x="6970733" y="2063700"/>
            <a:ext cx="2292000" cy="248700"/>
          </a:xfrm>
          <a:prstGeom prst="roundRect">
            <a:avLst>
              <a:gd name="adj" fmla="val 5000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7" name="Google Shape;47;g33c9240afdf_0_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g33c9240afdf_0_36"/>
          <p:cNvSpPr>
            <a:spLocks noGrp="1"/>
          </p:cNvSpPr>
          <p:nvPr>
            <p:ph type="pic" idx="2"/>
          </p:nvPr>
        </p:nvSpPr>
        <p:spPr>
          <a:xfrm>
            <a:off x="7676033" y="1054767"/>
            <a:ext cx="3623700" cy="4361700"/>
          </a:xfrm>
          <a:prstGeom prst="roundRect">
            <a:avLst>
              <a:gd name="adj" fmla="val 9836"/>
            </a:avLst>
          </a:prstGeom>
          <a:solidFill>
            <a:srgbClr val="BFBFBF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9" name="Google Shape;49;g33c9240afdf_0_36"/>
          <p:cNvSpPr txBox="1">
            <a:spLocks noGrp="1"/>
          </p:cNvSpPr>
          <p:nvPr>
            <p:ph type="title"/>
          </p:nvPr>
        </p:nvSpPr>
        <p:spPr>
          <a:xfrm>
            <a:off x="802600" y="9245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0" name="Google Shape;50;g33c9240afdf_0_36"/>
          <p:cNvSpPr txBox="1">
            <a:spLocks noGrp="1"/>
          </p:cNvSpPr>
          <p:nvPr>
            <p:ph type="title" idx="3"/>
          </p:nvPr>
        </p:nvSpPr>
        <p:spPr>
          <a:xfrm>
            <a:off x="2317232" y="9844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1" name="Google Shape;51;g33c9240afdf_0_36"/>
          <p:cNvSpPr txBox="1">
            <a:spLocks noGrp="1"/>
          </p:cNvSpPr>
          <p:nvPr>
            <p:ph type="title" idx="4"/>
          </p:nvPr>
        </p:nvSpPr>
        <p:spPr>
          <a:xfrm>
            <a:off x="802600" y="2015767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2" name="Google Shape;52;g33c9240afdf_0_36"/>
          <p:cNvSpPr txBox="1">
            <a:spLocks noGrp="1"/>
          </p:cNvSpPr>
          <p:nvPr>
            <p:ph type="title" idx="5"/>
          </p:nvPr>
        </p:nvSpPr>
        <p:spPr>
          <a:xfrm>
            <a:off x="2317232" y="2075667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3" name="Google Shape;53;g33c9240afdf_0_36"/>
          <p:cNvSpPr txBox="1">
            <a:spLocks noGrp="1"/>
          </p:cNvSpPr>
          <p:nvPr>
            <p:ph type="title" idx="6"/>
          </p:nvPr>
        </p:nvSpPr>
        <p:spPr>
          <a:xfrm>
            <a:off x="802600" y="3107000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4" name="Google Shape;54;g33c9240afdf_0_36"/>
          <p:cNvSpPr txBox="1">
            <a:spLocks noGrp="1"/>
          </p:cNvSpPr>
          <p:nvPr>
            <p:ph type="title" idx="7"/>
          </p:nvPr>
        </p:nvSpPr>
        <p:spPr>
          <a:xfrm>
            <a:off x="2317232" y="3166900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5" name="Google Shape;55;g33c9240afdf_0_36"/>
          <p:cNvSpPr txBox="1">
            <a:spLocks noGrp="1"/>
          </p:cNvSpPr>
          <p:nvPr>
            <p:ph type="title" idx="8"/>
          </p:nvPr>
        </p:nvSpPr>
        <p:spPr>
          <a:xfrm>
            <a:off x="802600" y="4198233"/>
            <a:ext cx="12303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5100"/>
              <a:buNone/>
              <a:defRPr sz="51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56" name="Google Shape;56;g33c9240afdf_0_36"/>
          <p:cNvSpPr txBox="1">
            <a:spLocks noGrp="1"/>
          </p:cNvSpPr>
          <p:nvPr>
            <p:ph type="title" idx="9"/>
          </p:nvPr>
        </p:nvSpPr>
        <p:spPr>
          <a:xfrm>
            <a:off x="2317232" y="4258133"/>
            <a:ext cx="4750200" cy="7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4000"/>
              <a:buFont typeface="Poppins Light"/>
              <a:buNone/>
              <a:defRPr sz="40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Poppins Light"/>
              <a:buNone/>
              <a:defRPr sz="4000" b="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57" name="Google Shape;57;g33c9240afdf_0_36"/>
          <p:cNvSpPr/>
          <p:nvPr/>
        </p:nvSpPr>
        <p:spPr>
          <a:xfrm rot="5400000">
            <a:off x="882283" y="5173983"/>
            <a:ext cx="249600" cy="20367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g33c9240afdf_0_36"/>
          <p:cNvSpPr/>
          <p:nvPr/>
        </p:nvSpPr>
        <p:spPr>
          <a:xfrm rot="-5400000">
            <a:off x="11347217" y="3752683"/>
            <a:ext cx="249600" cy="14679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69596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nd Quote">
  <p:cSld name="Image and Quote">
    <p:bg>
      <p:bgPr>
        <a:solidFill>
          <a:schemeClr val="accent1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3c9240afdf_0_424"/>
          <p:cNvSpPr/>
          <p:nvPr/>
        </p:nvSpPr>
        <p:spPr>
          <a:xfrm>
            <a:off x="7721600" y="0"/>
            <a:ext cx="3860700" cy="6929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g33c9240afdf_0_424"/>
          <p:cNvSpPr>
            <a:spLocks noGrp="1"/>
          </p:cNvSpPr>
          <p:nvPr>
            <p:ph type="pic" idx="2"/>
          </p:nvPr>
        </p:nvSpPr>
        <p:spPr>
          <a:xfrm>
            <a:off x="3860801" y="1"/>
            <a:ext cx="38607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6" name="Google Shape;436;g33c9240afdf_0_424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g33c9240afdf_0_42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8" name="Google Shape;438;g33c9240afdf_0_424"/>
          <p:cNvSpPr txBox="1">
            <a:spLocks noGrp="1"/>
          </p:cNvSpPr>
          <p:nvPr>
            <p:ph type="body" idx="1"/>
          </p:nvPr>
        </p:nvSpPr>
        <p:spPr>
          <a:xfrm>
            <a:off x="8215315" y="909016"/>
            <a:ext cx="2940300" cy="3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 sz="2800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 b="0" i="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9" name="Google Shape;439;g33c9240afdf_0_424"/>
          <p:cNvSpPr>
            <a:spLocks noGrp="1"/>
          </p:cNvSpPr>
          <p:nvPr>
            <p:ph type="pic" idx="3"/>
          </p:nvPr>
        </p:nvSpPr>
        <p:spPr>
          <a:xfrm>
            <a:off x="8215314" y="620713"/>
            <a:ext cx="2940300" cy="10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0" name="Google Shape;440;g33c9240afdf_0_424"/>
          <p:cNvSpPr txBox="1">
            <a:spLocks noGrp="1"/>
          </p:cNvSpPr>
          <p:nvPr>
            <p:ph type="title"/>
          </p:nvPr>
        </p:nvSpPr>
        <p:spPr>
          <a:xfrm>
            <a:off x="766764" y="4076700"/>
            <a:ext cx="2571900" cy="24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g33c9240afdf_0_424"/>
          <p:cNvSpPr txBox="1">
            <a:spLocks noGrp="1"/>
          </p:cNvSpPr>
          <p:nvPr>
            <p:ph type="body" idx="4"/>
          </p:nvPr>
        </p:nvSpPr>
        <p:spPr>
          <a:xfrm>
            <a:off x="766764" y="620714"/>
            <a:ext cx="2571900" cy="31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938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3c9240afdf_0_442"/>
          <p:cNvSpPr txBox="1">
            <a:spLocks noGrp="1"/>
          </p:cNvSpPr>
          <p:nvPr>
            <p:ph type="ftr" idx="11"/>
          </p:nvPr>
        </p:nvSpPr>
        <p:spPr>
          <a:xfrm rot="-5400000">
            <a:off x="9527440" y="2918081"/>
            <a:ext cx="4717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g33c9240afdf_0_442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4" name="Google Shape;454;g33c9240afdf_0_442"/>
          <p:cNvSpPr txBox="1">
            <a:spLocks noGrp="1"/>
          </p:cNvSpPr>
          <p:nvPr>
            <p:ph type="title"/>
          </p:nvPr>
        </p:nvSpPr>
        <p:spPr>
          <a:xfrm>
            <a:off x="766763" y="919307"/>
            <a:ext cx="8301000" cy="6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g33c9240afdf_0_442"/>
          <p:cNvSpPr txBox="1">
            <a:spLocks noGrp="1"/>
          </p:cNvSpPr>
          <p:nvPr>
            <p:ph type="body" idx="1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6" name="Google Shape;456;g33c9240afdf_0_442"/>
          <p:cNvSpPr txBox="1">
            <a:spLocks noGrp="1"/>
          </p:cNvSpPr>
          <p:nvPr>
            <p:ph type="body" idx="2"/>
          </p:nvPr>
        </p:nvSpPr>
        <p:spPr>
          <a:xfrm>
            <a:off x="766763" y="2097088"/>
            <a:ext cx="10039500" cy="42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  <a:defRPr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08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Blue">
  <p:cSld name="2 Blue">
    <p:bg>
      <p:bgPr>
        <a:solidFill>
          <a:srgbClr val="0066B2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3c9240afdf_0_6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1" name="Google Shape;71;g33c9240afdf_0_6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3c9240afdf_0_6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3" name="Google Shape;73;g33c9240afdf_0_6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45930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Dark Blue">
  <p:cSld name="2 Dark Blue">
    <p:bg>
      <p:bgPr>
        <a:solidFill>
          <a:srgbClr val="201D5C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c9240afdf_0_5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1" name="Google Shape;61;g33c9240afdf_0_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g33c9240afdf_0_5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3" name="Google Shape;63;g33c9240afdf_0_5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A796"/>
              </a:buClr>
              <a:buSzPts val="7200"/>
              <a:buNone/>
              <a:defRPr sz="7200">
                <a:solidFill>
                  <a:srgbClr val="06A79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610787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Purple">
  <p:cSld name="2 Purple">
    <p:bg>
      <p:bgPr>
        <a:solidFill>
          <a:srgbClr val="B12A7D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3c9240afdf_0_70"/>
          <p:cNvSpPr/>
          <p:nvPr/>
        </p:nvSpPr>
        <p:spPr>
          <a:xfrm>
            <a:off x="897800" y="3230000"/>
            <a:ext cx="10401900" cy="2487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2" name="Google Shape;62;g33c9240afdf_0_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g33c9240afdf_0_70"/>
          <p:cNvSpPr txBox="1">
            <a:spLocks noGrp="1"/>
          </p:cNvSpPr>
          <p:nvPr>
            <p:ph type="title"/>
          </p:nvPr>
        </p:nvSpPr>
        <p:spPr>
          <a:xfrm>
            <a:off x="4118867" y="3736933"/>
            <a:ext cx="6685200" cy="10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64" name="Google Shape;64;g33c9240afdf_0_70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24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65417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">
  <p:cSld name="23">
    <p:bg>
      <p:bgPr>
        <a:solidFill>
          <a:schemeClr val="lt1"/>
        </a:solidFill>
        <a:effectLst/>
      </p:bgPr>
    </p:bg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g33c9240afdf_0_2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20733" y="5817467"/>
            <a:ext cx="1230334" cy="79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g33c9240afdf_0_271"/>
          <p:cNvSpPr txBox="1">
            <a:spLocks noGrp="1"/>
          </p:cNvSpPr>
          <p:nvPr>
            <p:ph type="title"/>
          </p:nvPr>
        </p:nvSpPr>
        <p:spPr>
          <a:xfrm>
            <a:off x="4782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298" name="Google Shape;298;g33c9240afdf_0_271"/>
          <p:cNvSpPr txBox="1">
            <a:spLocks noGrp="1"/>
          </p:cNvSpPr>
          <p:nvPr>
            <p:ph type="title" idx="2"/>
          </p:nvPr>
        </p:nvSpPr>
        <p:spPr>
          <a:xfrm>
            <a:off x="4782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299" name="Google Shape;299;g33c9240afdf_0_271"/>
          <p:cNvSpPr txBox="1">
            <a:spLocks noGrp="1"/>
          </p:cNvSpPr>
          <p:nvPr>
            <p:ph type="title" idx="3"/>
          </p:nvPr>
        </p:nvSpPr>
        <p:spPr>
          <a:xfrm>
            <a:off x="887700" y="650333"/>
            <a:ext cx="10968300" cy="119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851"/>
              </a:buClr>
              <a:buSzPts val="4000"/>
              <a:buNone/>
              <a:defRPr sz="4000">
                <a:solidFill>
                  <a:srgbClr val="1B185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00" name="Google Shape;300;g33c9240afdf_0_271"/>
          <p:cNvSpPr>
            <a:spLocks noGrp="1"/>
          </p:cNvSpPr>
          <p:nvPr>
            <p:ph type="pic" idx="4"/>
          </p:nvPr>
        </p:nvSpPr>
        <p:spPr>
          <a:xfrm>
            <a:off x="5479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oogle Shape;301;g33c9240afdf_0_271"/>
          <p:cNvSpPr txBox="1">
            <a:spLocks noGrp="1"/>
          </p:cNvSpPr>
          <p:nvPr>
            <p:ph type="title" idx="5"/>
          </p:nvPr>
        </p:nvSpPr>
        <p:spPr>
          <a:xfrm>
            <a:off x="33325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2" name="Google Shape;302;g33c9240afdf_0_271"/>
          <p:cNvSpPr txBox="1">
            <a:spLocks noGrp="1"/>
          </p:cNvSpPr>
          <p:nvPr>
            <p:ph type="title" idx="6"/>
          </p:nvPr>
        </p:nvSpPr>
        <p:spPr>
          <a:xfrm>
            <a:off x="33325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3" name="Google Shape;303;g33c9240afdf_0_271"/>
          <p:cNvSpPr>
            <a:spLocks noGrp="1"/>
          </p:cNvSpPr>
          <p:nvPr>
            <p:ph type="pic" idx="7"/>
          </p:nvPr>
        </p:nvSpPr>
        <p:spPr>
          <a:xfrm>
            <a:off x="34022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oogle Shape;304;g33c9240afdf_0_271"/>
          <p:cNvSpPr txBox="1">
            <a:spLocks noGrp="1"/>
          </p:cNvSpPr>
          <p:nvPr>
            <p:ph type="title" idx="8"/>
          </p:nvPr>
        </p:nvSpPr>
        <p:spPr>
          <a:xfrm>
            <a:off x="61868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5" name="Google Shape;305;g33c9240afdf_0_271"/>
          <p:cNvSpPr txBox="1">
            <a:spLocks noGrp="1"/>
          </p:cNvSpPr>
          <p:nvPr>
            <p:ph type="title" idx="9"/>
          </p:nvPr>
        </p:nvSpPr>
        <p:spPr>
          <a:xfrm>
            <a:off x="61868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6" name="Google Shape;306;g33c9240afdf_0_271"/>
          <p:cNvSpPr>
            <a:spLocks noGrp="1"/>
          </p:cNvSpPr>
          <p:nvPr>
            <p:ph type="pic" idx="13"/>
          </p:nvPr>
        </p:nvSpPr>
        <p:spPr>
          <a:xfrm>
            <a:off x="62565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oogle Shape;307;g33c9240afdf_0_271"/>
          <p:cNvSpPr txBox="1">
            <a:spLocks noGrp="1"/>
          </p:cNvSpPr>
          <p:nvPr>
            <p:ph type="title" idx="14"/>
          </p:nvPr>
        </p:nvSpPr>
        <p:spPr>
          <a:xfrm>
            <a:off x="9041133" y="4009052"/>
            <a:ext cx="2559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1900"/>
              <a:buFont typeface="Poppins Light"/>
              <a:buNone/>
              <a:defRPr sz="1900"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3700"/>
              <a:buFont typeface="Poppins Light"/>
              <a:buNone/>
              <a:defRPr b="0">
                <a:solidFill>
                  <a:srgbClr val="201D5C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sp>
        <p:nvSpPr>
          <p:cNvPr id="308" name="Google Shape;308;g33c9240afdf_0_271"/>
          <p:cNvSpPr txBox="1">
            <a:spLocks noGrp="1"/>
          </p:cNvSpPr>
          <p:nvPr>
            <p:ph type="title" idx="15"/>
          </p:nvPr>
        </p:nvSpPr>
        <p:spPr>
          <a:xfrm>
            <a:off x="9041133" y="3437400"/>
            <a:ext cx="31380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1D5C"/>
              </a:buClr>
              <a:buSzPts val="2400"/>
              <a:buFont typeface="Poppins SemiBold"/>
              <a:buNone/>
              <a:defRPr sz="2400" b="0">
                <a:solidFill>
                  <a:srgbClr val="201D5C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>
            <a:endParaRPr/>
          </a:p>
        </p:txBody>
      </p:sp>
      <p:sp>
        <p:nvSpPr>
          <p:cNvPr id="309" name="Google Shape;309;g33c9240afdf_0_271"/>
          <p:cNvSpPr>
            <a:spLocks noGrp="1"/>
          </p:cNvSpPr>
          <p:nvPr>
            <p:ph type="pic" idx="16"/>
          </p:nvPr>
        </p:nvSpPr>
        <p:spPr>
          <a:xfrm>
            <a:off x="9110867" y="2165500"/>
            <a:ext cx="2451300" cy="1164000"/>
          </a:xfrm>
          <a:prstGeom prst="roundRect">
            <a:avLst>
              <a:gd name="adj" fmla="val 14536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2942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itle slide Blue">
  <p:cSld name="0 Title slide Blue">
    <p:bg>
      <p:bgPr>
        <a:solidFill>
          <a:srgbClr val="201D5C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3c9240afdf_0_2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g33c9240afdf_0_28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25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None/>
              <a:defRPr sz="51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sp>
        <p:nvSpPr>
          <p:cNvPr id="73" name="Google Shape;73;g33c9240afdf_0_28"/>
          <p:cNvSpPr txBox="1">
            <a:spLocks noGrp="1"/>
          </p:cNvSpPr>
          <p:nvPr>
            <p:ph type="title" idx="2"/>
          </p:nvPr>
        </p:nvSpPr>
        <p:spPr>
          <a:xfrm>
            <a:off x="6051167" y="5660000"/>
            <a:ext cx="5637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 SemiBold"/>
              <a:buNone/>
              <a:defRPr sz="2400" b="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>
            <a:endParaRPr/>
          </a:p>
        </p:txBody>
      </p:sp>
      <p:pic>
        <p:nvPicPr>
          <p:cNvPr id="74" name="Google Shape;74;g33c9240afdf_0_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77867" y="622500"/>
            <a:ext cx="3889201" cy="252513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g33c9240afdf_0_28"/>
          <p:cNvSpPr/>
          <p:nvPr/>
        </p:nvSpPr>
        <p:spPr>
          <a:xfrm rot="5400000">
            <a:off x="2894117" y="2901383"/>
            <a:ext cx="249600" cy="60603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12A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" name="Google Shape;76;g33c9240afdf_0_28"/>
          <p:cNvSpPr/>
          <p:nvPr/>
        </p:nvSpPr>
        <p:spPr>
          <a:xfrm rot="-5400000">
            <a:off x="11373950" y="3126650"/>
            <a:ext cx="249600" cy="14145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7" name="Google Shape;77;g33c9240afdf_0_28"/>
          <p:cNvSpPr/>
          <p:nvPr/>
        </p:nvSpPr>
        <p:spPr>
          <a:xfrm rot="5400000">
            <a:off x="384133" y="2042100"/>
            <a:ext cx="249600" cy="1040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66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92456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EB8418-9D36-794D-9F5A-7E1343F14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9D0B58-05BF-1CD6-E4FC-22252FE6E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E8E72-F8B5-D172-5A35-3D82928AB9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D83A67-2B70-B84B-8DE7-41B8BB6CE574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ADA45-0CD7-05C9-07D7-64128F1F0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77884-384E-D915-A752-5FE158C180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DACE28-FF16-D441-A145-2B5FD90A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42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"/>
          <p:cNvSpPr txBox="1">
            <a:spLocks noGrp="1"/>
          </p:cNvSpPr>
          <p:nvPr>
            <p:ph type="title"/>
          </p:nvPr>
        </p:nvSpPr>
        <p:spPr>
          <a:xfrm>
            <a:off x="8729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</a:pPr>
            <a:r>
              <a:rPr lang="en-US" dirty="0">
                <a:latin typeface="Poppins"/>
                <a:ea typeface="Poppins"/>
                <a:cs typeface="Poppins"/>
                <a:sym typeface="Poppins"/>
              </a:rPr>
              <a:t>{brand_name}</a:t>
            </a: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481" name="Google Shape;481;p1"/>
          <p:cNvSpPr txBox="1">
            <a:spLocks noGrp="1"/>
          </p:cNvSpPr>
          <p:nvPr>
            <p:ph type="title" idx="2"/>
          </p:nvPr>
        </p:nvSpPr>
        <p:spPr>
          <a:xfrm>
            <a:off x="6538800" y="5695062"/>
            <a:ext cx="5653200" cy="86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/>
              <a:t>Audience360 Post Campaign Report</a:t>
            </a:r>
            <a:endParaRPr sz="2200"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dirty="0"/>
              <a:t>{date_}</a:t>
            </a:r>
            <a:endParaRPr sz="18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2"/>
          <p:cNvSpPr txBox="1">
            <a:spLocks noGrp="1"/>
          </p:cNvSpPr>
          <p:nvPr>
            <p:ph type="title"/>
          </p:nvPr>
        </p:nvSpPr>
        <p:spPr>
          <a:xfrm>
            <a:off x="574000" y="7721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</a:t>
            </a:r>
            <a:endParaRPr/>
          </a:p>
        </p:txBody>
      </p:sp>
      <p:sp>
        <p:nvSpPr>
          <p:cNvPr id="488" name="Google Shape;488;p2"/>
          <p:cNvSpPr txBox="1">
            <a:spLocks noGrp="1"/>
          </p:cNvSpPr>
          <p:nvPr>
            <p:ph type="title" idx="3"/>
          </p:nvPr>
        </p:nvSpPr>
        <p:spPr>
          <a:xfrm>
            <a:off x="2088632" y="924533"/>
            <a:ext cx="4750200" cy="661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Campaign brief summary</a:t>
            </a:r>
            <a:endParaRPr sz="2700"/>
          </a:p>
        </p:txBody>
      </p:sp>
      <p:sp>
        <p:nvSpPr>
          <p:cNvPr id="489" name="Google Shape;489;p2"/>
          <p:cNvSpPr txBox="1">
            <a:spLocks noGrp="1"/>
          </p:cNvSpPr>
          <p:nvPr>
            <p:ph type="title" idx="4"/>
          </p:nvPr>
        </p:nvSpPr>
        <p:spPr>
          <a:xfrm>
            <a:off x="574000" y="1863367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  <p:sp>
        <p:nvSpPr>
          <p:cNvPr id="490" name="Google Shape;490;p2"/>
          <p:cNvSpPr txBox="1">
            <a:spLocks noGrp="1"/>
          </p:cNvSpPr>
          <p:nvPr>
            <p:ph type="title" idx="5"/>
          </p:nvPr>
        </p:nvSpPr>
        <p:spPr>
          <a:xfrm>
            <a:off x="2088632" y="1923267"/>
            <a:ext cx="4750200" cy="195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Post campaign report</a:t>
            </a:r>
            <a:endParaRPr sz="27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Overall campaign performance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Audience breakdown 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/>
              <a:t>Creative analysis 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1" name="Google Shape;491;p2"/>
          <p:cNvSpPr txBox="1">
            <a:spLocks noGrp="1"/>
          </p:cNvSpPr>
          <p:nvPr>
            <p:ph type="title" idx="6"/>
          </p:nvPr>
        </p:nvSpPr>
        <p:spPr>
          <a:xfrm>
            <a:off x="574000" y="3411800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</a:t>
            </a:r>
            <a:endParaRPr/>
          </a:p>
        </p:txBody>
      </p:sp>
      <p:sp>
        <p:nvSpPr>
          <p:cNvPr id="492" name="Google Shape;492;p2"/>
          <p:cNvSpPr txBox="1">
            <a:spLocks noGrp="1"/>
          </p:cNvSpPr>
          <p:nvPr>
            <p:ph type="title" idx="7"/>
          </p:nvPr>
        </p:nvSpPr>
        <p:spPr>
          <a:xfrm>
            <a:off x="2088625" y="3547900"/>
            <a:ext cx="6439800" cy="1077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Learnings &amp; Recommendations</a:t>
            </a:r>
            <a:endParaRPr sz="27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</p:txBody>
      </p:sp>
      <p:sp>
        <p:nvSpPr>
          <p:cNvPr id="493" name="Google Shape;493;p2"/>
          <p:cNvSpPr txBox="1">
            <a:spLocks noGrp="1"/>
          </p:cNvSpPr>
          <p:nvPr>
            <p:ph type="title" idx="8"/>
          </p:nvPr>
        </p:nvSpPr>
        <p:spPr>
          <a:xfrm>
            <a:off x="574000" y="4426833"/>
            <a:ext cx="1230300" cy="1031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</a:t>
            </a:r>
            <a:endParaRPr/>
          </a:p>
        </p:txBody>
      </p:sp>
      <p:sp>
        <p:nvSpPr>
          <p:cNvPr id="494" name="Google Shape;494;p2"/>
          <p:cNvSpPr txBox="1">
            <a:spLocks noGrp="1"/>
          </p:cNvSpPr>
          <p:nvPr>
            <p:ph type="title" idx="9"/>
          </p:nvPr>
        </p:nvSpPr>
        <p:spPr>
          <a:xfrm>
            <a:off x="2088632" y="4562933"/>
            <a:ext cx="4750200" cy="12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dirty="0"/>
              <a:t>Channels</a:t>
            </a:r>
            <a:endParaRPr sz="2700" dirty="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US" sz="1900" dirty="0"/>
              <a:t>{channel1}</a:t>
            </a:r>
            <a:endParaRPr sz="1900" dirty="0"/>
          </a:p>
          <a:p>
            <a:pPr marL="457200" lvl="0" indent="-349250">
              <a:buSzPts val="1900"/>
              <a:buChar char="●"/>
            </a:pPr>
            <a:r>
              <a:rPr lang="en-US" sz="1900" dirty="0"/>
              <a:t>{channel2}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0AD12-E4A9-B4AA-D4BA-B3F35AA26F90}"/>
              </a:ext>
            </a:extLst>
          </p:cNvPr>
          <p:cNvSpPr txBox="1"/>
          <p:nvPr/>
        </p:nvSpPr>
        <p:spPr>
          <a:xfrm>
            <a:off x="1524000" y="685800"/>
            <a:ext cx="9144000" cy="5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{table_of_contents_picture}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"/>
          <p:cNvSpPr txBox="1">
            <a:spLocks noGrp="1"/>
          </p:cNvSpPr>
          <p:nvPr>
            <p:ph type="body" idx="4294967295"/>
          </p:nvPr>
        </p:nvSpPr>
        <p:spPr>
          <a:xfrm>
            <a:off x="766763" y="620713"/>
            <a:ext cx="4860900" cy="2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OUR APPROACH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0" name="Google Shape;500;p3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146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Campaign Brief Summary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1" name="Google Shape;501;p3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01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"/>
          <p:cNvSpPr txBox="1">
            <a:spLocks noGrp="1"/>
          </p:cNvSpPr>
          <p:nvPr>
            <p:ph type="body" idx="1"/>
          </p:nvPr>
        </p:nvSpPr>
        <p:spPr>
          <a:xfrm>
            <a:off x="3923150" y="2278925"/>
            <a:ext cx="3557700" cy="53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Objective</a:t>
            </a:r>
            <a:endParaRPr sz="1400" b="1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>
              <a:spcBef>
                <a:spcPts val="0"/>
              </a:spcBef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{campaign_objective}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Primary KPIs: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{primary_kpis}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Secondary KPIs: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 indent="-317500">
              <a:spcBef>
                <a:spcPts val="0"/>
              </a:spcBef>
              <a:buClr>
                <a:schemeClr val="lt1"/>
              </a:buClr>
              <a:buSzPts val="1400"/>
              <a:buFont typeface="Poppins"/>
              <a:buChar char="➢"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{secondary_kpis}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4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Further measurement: </a:t>
            </a:r>
            <a:endParaRPr sz="14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11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{further_measurements}</a:t>
            </a:r>
            <a:endParaRPr sz="11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13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7" name="Google Shape;507;p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508" name="Google Shape;508;p4"/>
          <p:cNvSpPr txBox="1">
            <a:spLocks noGrp="1"/>
          </p:cNvSpPr>
          <p:nvPr>
            <p:ph type="title"/>
          </p:nvPr>
        </p:nvSpPr>
        <p:spPr>
          <a:xfrm>
            <a:off x="617575" y="372650"/>
            <a:ext cx="3316200" cy="14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300">
                <a:latin typeface="Poppins"/>
                <a:ea typeface="Poppins"/>
                <a:cs typeface="Poppins"/>
                <a:sym typeface="Poppins"/>
              </a:rPr>
              <a:t>Campaign Summary</a:t>
            </a:r>
            <a:endParaRPr sz="4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9" name="Google Shape;509;p4"/>
          <p:cNvSpPr txBox="1">
            <a:spLocks noGrp="1"/>
          </p:cNvSpPr>
          <p:nvPr>
            <p:ph type="body" idx="4"/>
          </p:nvPr>
        </p:nvSpPr>
        <p:spPr>
          <a:xfrm>
            <a:off x="617575" y="2325700"/>
            <a:ext cx="29004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Brand: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{brand_name}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Campaign: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{campaign_name}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Flight Dates: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indent="0" algn="just">
              <a:spcBef>
                <a:spcPts val="0"/>
              </a:spcBef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{flight_dates}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en-US" sz="1400" b="1" dirty="0">
                <a:latin typeface="Poppins"/>
                <a:ea typeface="Poppins"/>
                <a:cs typeface="Poppins"/>
                <a:sym typeface="Poppins"/>
              </a:rPr>
              <a:t>Channels:</a:t>
            </a: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 </a:t>
            </a: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Poppins"/>
              <a:buChar char="●"/>
            </a:pPr>
            <a:r>
              <a:rPr lang="en-US" sz="1400" dirty="0">
                <a:latin typeface="Poppins"/>
                <a:ea typeface="Poppins"/>
                <a:cs typeface="Poppins"/>
                <a:sym typeface="Poppins"/>
              </a:rPr>
              <a:t>{channels}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sz="12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endParaRPr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2DF3C3-88B9-EBE6-16E6-6B3E3658F137}"/>
              </a:ext>
            </a:extLst>
          </p:cNvPr>
          <p:cNvSpPr txBox="1"/>
          <p:nvPr/>
        </p:nvSpPr>
        <p:spPr>
          <a:xfrm>
            <a:off x="8241553" y="3024094"/>
            <a:ext cx="2898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{campaign_summary_picture}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c3d5ed836_0_7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16" name="Google Shape;516;g2ec3d5ed836_0_7"/>
          <p:cNvSpPr txBox="1"/>
          <p:nvPr/>
        </p:nvSpPr>
        <p:spPr>
          <a:xfrm>
            <a:off x="795902" y="434223"/>
            <a:ext cx="108687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{overall_campaign</a:t>
            </a:r>
            <a:r>
              <a:rPr lang="en-US" sz="30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</a:t>
            </a:r>
            <a:r>
              <a:rPr lang="en-US" sz="30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performance_commentary}</a:t>
            </a:r>
          </a:p>
        </p:txBody>
      </p:sp>
      <p:sp>
        <p:nvSpPr>
          <p:cNvPr id="517" name="Google Shape;517;g2ec3d5ed836_0_7"/>
          <p:cNvSpPr/>
          <p:nvPr/>
        </p:nvSpPr>
        <p:spPr>
          <a:xfrm>
            <a:off x="3980700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2ec3d5ed836_0_7"/>
          <p:cNvSpPr/>
          <p:nvPr/>
        </p:nvSpPr>
        <p:spPr>
          <a:xfrm>
            <a:off x="7763321" y="3879346"/>
            <a:ext cx="118200" cy="1303500"/>
          </a:xfrm>
          <a:prstGeom prst="rect">
            <a:avLst/>
          </a:prstGeom>
          <a:solidFill>
            <a:srgbClr val="267C6F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2ec3d5ed836_0_7"/>
          <p:cNvSpPr/>
          <p:nvPr/>
        </p:nvSpPr>
        <p:spPr>
          <a:xfrm>
            <a:off x="719873" y="3732226"/>
            <a:ext cx="30642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i="0" u="none" strike="noStrike" cap="none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{overall_engagement</a:t>
            </a:r>
            <a:r>
              <a:rPr lang="en-GB" sz="1100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_</a:t>
            </a:r>
            <a:r>
              <a:rPr lang="en-GB" sz="1100" i="0" u="none" strike="noStrike" cap="none" dirty="0">
                <a:solidFill>
                  <a:schemeClr val="accent6">
                    <a:lumMod val="10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performance_commentary}</a:t>
            </a:r>
            <a:endParaRPr sz="1100" i="0" u="none" strike="noStrike" cap="none" dirty="0">
              <a:solidFill>
                <a:schemeClr val="accent6">
                  <a:lumMod val="10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0" name="Google Shape;520;g2ec3d5ed836_0_7"/>
          <p:cNvSpPr/>
          <p:nvPr/>
        </p:nvSpPr>
        <p:spPr>
          <a:xfrm>
            <a:off x="4348311" y="3706276"/>
            <a:ext cx="3165600" cy="3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Sales, Revenue &amp; RO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{overall_sales_revenue_ROI_performance_commentary}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1" name="Google Shape;521;g2ec3d5ed836_0_7"/>
          <p:cNvSpPr/>
          <p:nvPr/>
        </p:nvSpPr>
        <p:spPr>
          <a:xfrm>
            <a:off x="8130959" y="3732226"/>
            <a:ext cx="3364500" cy="24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Objective: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 and Reach</a:t>
            </a:r>
            <a:endParaRPr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lang="en-GB" sz="1100" b="1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GB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{overall_reach_performance_commentary}</a:t>
            </a:r>
            <a:endParaRPr sz="110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22" name="Google Shape;522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43401" y="2314859"/>
            <a:ext cx="930551" cy="9580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g2ec3d5ed836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5822" y="2470997"/>
            <a:ext cx="930551" cy="9580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4" name="Google Shape;524;g2ec3d5ed836_0_7"/>
          <p:cNvGrpSpPr/>
          <p:nvPr/>
        </p:nvGrpSpPr>
        <p:grpSpPr>
          <a:xfrm>
            <a:off x="5453308" y="2325711"/>
            <a:ext cx="1083093" cy="1079060"/>
            <a:chOff x="4195399" y="1970604"/>
            <a:chExt cx="344879" cy="343573"/>
          </a:xfrm>
        </p:grpSpPr>
        <p:sp>
          <p:nvSpPr>
            <p:cNvPr id="525" name="Google Shape;525;g2ec3d5ed836_0_7"/>
            <p:cNvSpPr/>
            <p:nvPr/>
          </p:nvSpPr>
          <p:spPr>
            <a:xfrm>
              <a:off x="4195399" y="1970604"/>
              <a:ext cx="344878" cy="343573"/>
            </a:xfrm>
            <a:custGeom>
              <a:avLst/>
              <a:gdLst/>
              <a:ahLst/>
              <a:cxnLst/>
              <a:rect l="l" t="t" r="r" b="b"/>
              <a:pathLst>
                <a:path w="10835" h="10794" extrusionOk="0">
                  <a:moveTo>
                    <a:pt x="4155" y="6287"/>
                  </a:moveTo>
                  <a:cubicBezTo>
                    <a:pt x="4274" y="6418"/>
                    <a:pt x="4417" y="6561"/>
                    <a:pt x="4572" y="6704"/>
                  </a:cubicBezTo>
                  <a:lnTo>
                    <a:pt x="3977" y="7299"/>
                  </a:lnTo>
                  <a:lnTo>
                    <a:pt x="3929" y="7252"/>
                  </a:lnTo>
                  <a:lnTo>
                    <a:pt x="3596" y="6918"/>
                  </a:lnTo>
                  <a:lnTo>
                    <a:pt x="3560" y="6883"/>
                  </a:lnTo>
                  <a:lnTo>
                    <a:pt x="4155" y="6287"/>
                  </a:lnTo>
                  <a:close/>
                  <a:moveTo>
                    <a:pt x="3203" y="7064"/>
                  </a:moveTo>
                  <a:cubicBezTo>
                    <a:pt x="3271" y="7064"/>
                    <a:pt x="3340" y="7091"/>
                    <a:pt x="3393" y="7144"/>
                  </a:cubicBezTo>
                  <a:lnTo>
                    <a:pt x="3715" y="7478"/>
                  </a:lnTo>
                  <a:cubicBezTo>
                    <a:pt x="3810" y="7573"/>
                    <a:pt x="3822" y="7740"/>
                    <a:pt x="3715" y="7847"/>
                  </a:cubicBezTo>
                  <a:lnTo>
                    <a:pt x="3524" y="8037"/>
                  </a:lnTo>
                  <a:lnTo>
                    <a:pt x="2822" y="7335"/>
                  </a:lnTo>
                  <a:lnTo>
                    <a:pt x="3012" y="7144"/>
                  </a:lnTo>
                  <a:cubicBezTo>
                    <a:pt x="3066" y="7091"/>
                    <a:pt x="3134" y="7064"/>
                    <a:pt x="3203" y="7064"/>
                  </a:cubicBezTo>
                  <a:close/>
                  <a:moveTo>
                    <a:pt x="2608" y="7549"/>
                  </a:moveTo>
                  <a:lnTo>
                    <a:pt x="3298" y="8252"/>
                  </a:lnTo>
                  <a:lnTo>
                    <a:pt x="1143" y="10407"/>
                  </a:lnTo>
                  <a:cubicBezTo>
                    <a:pt x="1089" y="10460"/>
                    <a:pt x="1024" y="10487"/>
                    <a:pt x="959" y="10487"/>
                  </a:cubicBezTo>
                  <a:cubicBezTo>
                    <a:pt x="893" y="10487"/>
                    <a:pt x="828" y="10460"/>
                    <a:pt x="774" y="10407"/>
                  </a:cubicBezTo>
                  <a:lnTo>
                    <a:pt x="441" y="10073"/>
                  </a:lnTo>
                  <a:cubicBezTo>
                    <a:pt x="345" y="9978"/>
                    <a:pt x="345" y="9811"/>
                    <a:pt x="441" y="9704"/>
                  </a:cubicBezTo>
                  <a:lnTo>
                    <a:pt x="2608" y="7549"/>
                  </a:lnTo>
                  <a:close/>
                  <a:moveTo>
                    <a:pt x="7037" y="1"/>
                  </a:moveTo>
                  <a:cubicBezTo>
                    <a:pt x="3941" y="1"/>
                    <a:pt x="2155" y="3513"/>
                    <a:pt x="3953" y="6013"/>
                  </a:cubicBezTo>
                  <a:lnTo>
                    <a:pt x="3239" y="6728"/>
                  </a:lnTo>
                  <a:cubicBezTo>
                    <a:pt x="3224" y="6727"/>
                    <a:pt x="3209" y="6726"/>
                    <a:pt x="3194" y="6726"/>
                  </a:cubicBezTo>
                  <a:cubicBezTo>
                    <a:pt x="3036" y="6726"/>
                    <a:pt x="2907" y="6785"/>
                    <a:pt x="2798" y="6894"/>
                  </a:cubicBezTo>
                  <a:lnTo>
                    <a:pt x="226" y="9466"/>
                  </a:lnTo>
                  <a:cubicBezTo>
                    <a:pt x="0" y="9692"/>
                    <a:pt x="0" y="10061"/>
                    <a:pt x="226" y="10288"/>
                  </a:cubicBezTo>
                  <a:lnTo>
                    <a:pt x="548" y="10633"/>
                  </a:lnTo>
                  <a:cubicBezTo>
                    <a:pt x="661" y="10740"/>
                    <a:pt x="810" y="10794"/>
                    <a:pt x="959" y="10794"/>
                  </a:cubicBezTo>
                  <a:cubicBezTo>
                    <a:pt x="1107" y="10794"/>
                    <a:pt x="1256" y="10740"/>
                    <a:pt x="1369" y="10633"/>
                  </a:cubicBezTo>
                  <a:lnTo>
                    <a:pt x="3631" y="8371"/>
                  </a:lnTo>
                  <a:lnTo>
                    <a:pt x="3941" y="8049"/>
                  </a:lnTo>
                  <a:cubicBezTo>
                    <a:pt x="4060" y="7930"/>
                    <a:pt x="4120" y="7775"/>
                    <a:pt x="4108" y="7609"/>
                  </a:cubicBezTo>
                  <a:lnTo>
                    <a:pt x="4822" y="6894"/>
                  </a:lnTo>
                  <a:cubicBezTo>
                    <a:pt x="5358" y="7275"/>
                    <a:pt x="6001" y="7514"/>
                    <a:pt x="6656" y="7597"/>
                  </a:cubicBezTo>
                  <a:lnTo>
                    <a:pt x="6668" y="7597"/>
                  </a:lnTo>
                  <a:cubicBezTo>
                    <a:pt x="6739" y="7597"/>
                    <a:pt x="6810" y="7537"/>
                    <a:pt x="6834" y="7442"/>
                  </a:cubicBezTo>
                  <a:cubicBezTo>
                    <a:pt x="6846" y="7359"/>
                    <a:pt x="6775" y="7275"/>
                    <a:pt x="6691" y="7264"/>
                  </a:cubicBezTo>
                  <a:cubicBezTo>
                    <a:pt x="6013" y="7192"/>
                    <a:pt x="5370" y="6918"/>
                    <a:pt x="4846" y="6502"/>
                  </a:cubicBezTo>
                  <a:cubicBezTo>
                    <a:pt x="2286" y="4442"/>
                    <a:pt x="3798" y="334"/>
                    <a:pt x="7037" y="334"/>
                  </a:cubicBezTo>
                  <a:cubicBezTo>
                    <a:pt x="8870" y="334"/>
                    <a:pt x="10323" y="1715"/>
                    <a:pt x="10501" y="3454"/>
                  </a:cubicBezTo>
                  <a:cubicBezTo>
                    <a:pt x="10522" y="3535"/>
                    <a:pt x="10576" y="3590"/>
                    <a:pt x="10644" y="3590"/>
                  </a:cubicBezTo>
                  <a:cubicBezTo>
                    <a:pt x="10655" y="3590"/>
                    <a:pt x="10668" y="3588"/>
                    <a:pt x="10680" y="3584"/>
                  </a:cubicBezTo>
                  <a:cubicBezTo>
                    <a:pt x="10775" y="3573"/>
                    <a:pt x="10835" y="3501"/>
                    <a:pt x="10823" y="3406"/>
                  </a:cubicBezTo>
                  <a:cubicBezTo>
                    <a:pt x="10620" y="1525"/>
                    <a:pt x="9037" y="1"/>
                    <a:pt x="703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g2ec3d5ed836_0_7"/>
            <p:cNvSpPr/>
            <p:nvPr/>
          </p:nvSpPr>
          <p:spPr>
            <a:xfrm>
              <a:off x="4311356" y="1993458"/>
              <a:ext cx="206959" cy="197378"/>
            </a:xfrm>
            <a:custGeom>
              <a:avLst/>
              <a:gdLst/>
              <a:ahLst/>
              <a:cxnLst/>
              <a:rect l="l" t="t" r="r" b="b"/>
              <a:pathLst>
                <a:path w="6502" h="6201" extrusionOk="0">
                  <a:moveTo>
                    <a:pt x="3394" y="295"/>
                  </a:moveTo>
                  <a:cubicBezTo>
                    <a:pt x="4930" y="295"/>
                    <a:pt x="6180" y="1533"/>
                    <a:pt x="6180" y="3081"/>
                  </a:cubicBezTo>
                  <a:cubicBezTo>
                    <a:pt x="6180" y="4641"/>
                    <a:pt x="4930" y="5879"/>
                    <a:pt x="3394" y="5879"/>
                  </a:cubicBezTo>
                  <a:cubicBezTo>
                    <a:pt x="2679" y="5879"/>
                    <a:pt x="1965" y="5605"/>
                    <a:pt x="1429" y="5057"/>
                  </a:cubicBezTo>
                  <a:cubicBezTo>
                    <a:pt x="346" y="3974"/>
                    <a:pt x="346" y="2200"/>
                    <a:pt x="1429" y="1116"/>
                  </a:cubicBezTo>
                  <a:cubicBezTo>
                    <a:pt x="1977" y="569"/>
                    <a:pt x="2679" y="295"/>
                    <a:pt x="3394" y="295"/>
                  </a:cubicBezTo>
                  <a:close/>
                  <a:moveTo>
                    <a:pt x="3404" y="0"/>
                  </a:moveTo>
                  <a:cubicBezTo>
                    <a:pt x="2608" y="0"/>
                    <a:pt x="1810" y="301"/>
                    <a:pt x="1203" y="902"/>
                  </a:cubicBezTo>
                  <a:cubicBezTo>
                    <a:pt x="0" y="2116"/>
                    <a:pt x="0" y="4093"/>
                    <a:pt x="1203" y="5295"/>
                  </a:cubicBezTo>
                  <a:cubicBezTo>
                    <a:pt x="1822" y="5903"/>
                    <a:pt x="2608" y="6200"/>
                    <a:pt x="3394" y="6200"/>
                  </a:cubicBezTo>
                  <a:cubicBezTo>
                    <a:pt x="5108" y="6188"/>
                    <a:pt x="6501" y="4819"/>
                    <a:pt x="6501" y="3093"/>
                  </a:cubicBezTo>
                  <a:cubicBezTo>
                    <a:pt x="6501" y="2259"/>
                    <a:pt x="6180" y="1485"/>
                    <a:pt x="5596" y="902"/>
                  </a:cubicBezTo>
                  <a:cubicBezTo>
                    <a:pt x="4995" y="301"/>
                    <a:pt x="4200" y="0"/>
                    <a:pt x="340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g2ec3d5ed836_0_7"/>
            <p:cNvSpPr/>
            <p:nvPr/>
          </p:nvSpPr>
          <p:spPr>
            <a:xfrm>
              <a:off x="4426167" y="2098561"/>
              <a:ext cx="114111" cy="113474"/>
            </a:xfrm>
            <a:custGeom>
              <a:avLst/>
              <a:gdLst/>
              <a:ahLst/>
              <a:cxnLst/>
              <a:rect l="l" t="t" r="r" b="b"/>
              <a:pathLst>
                <a:path w="3585" h="3565" extrusionOk="0">
                  <a:moveTo>
                    <a:pt x="3401" y="1"/>
                  </a:moveTo>
                  <a:cubicBezTo>
                    <a:pt x="3330" y="1"/>
                    <a:pt x="3272" y="73"/>
                    <a:pt x="3251" y="136"/>
                  </a:cubicBezTo>
                  <a:cubicBezTo>
                    <a:pt x="3097" y="1767"/>
                    <a:pt x="1799" y="3077"/>
                    <a:pt x="144" y="3244"/>
                  </a:cubicBezTo>
                  <a:cubicBezTo>
                    <a:pt x="61" y="3255"/>
                    <a:pt x="1" y="3339"/>
                    <a:pt x="13" y="3422"/>
                  </a:cubicBezTo>
                  <a:cubicBezTo>
                    <a:pt x="25" y="3494"/>
                    <a:pt x="84" y="3565"/>
                    <a:pt x="180" y="3565"/>
                  </a:cubicBezTo>
                  <a:lnTo>
                    <a:pt x="191" y="3565"/>
                  </a:lnTo>
                  <a:cubicBezTo>
                    <a:pt x="1966" y="3398"/>
                    <a:pt x="3394" y="1970"/>
                    <a:pt x="3573" y="184"/>
                  </a:cubicBezTo>
                  <a:cubicBezTo>
                    <a:pt x="3585" y="88"/>
                    <a:pt x="3513" y="17"/>
                    <a:pt x="3430" y="5"/>
                  </a:cubicBezTo>
                  <a:cubicBezTo>
                    <a:pt x="3420" y="2"/>
                    <a:pt x="3410" y="1"/>
                    <a:pt x="340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rgbClr val="06A79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"/>
          <p:cNvSpPr txBox="1">
            <a:spLocks noGrp="1"/>
          </p:cNvSpPr>
          <p:nvPr>
            <p:ph type="title"/>
          </p:nvPr>
        </p:nvSpPr>
        <p:spPr>
          <a:xfrm>
            <a:off x="4576067" y="3736933"/>
            <a:ext cx="66852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Post Campaign Report</a:t>
            </a:r>
            <a:endParaRPr sz="34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4" name="Google Shape;564;p9"/>
          <p:cNvSpPr txBox="1">
            <a:spLocks noGrp="1"/>
          </p:cNvSpPr>
          <p:nvPr>
            <p:ph type="body" idx="4294967295"/>
          </p:nvPr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The following analysis is based on </a:t>
            </a:r>
            <a:r>
              <a:rPr lang="en-US" sz="24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exposed </a:t>
            </a:r>
            <a: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audience.</a:t>
            </a:r>
            <a:br>
              <a:rPr lang="en-US" sz="1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1800">
              <a:solidFill>
                <a:schemeClr val="lt1"/>
              </a:solidFill>
            </a:endParaRPr>
          </a:p>
        </p:txBody>
      </p:sp>
      <p:sp>
        <p:nvSpPr>
          <p:cNvPr id="565" name="Google Shape;565;p9"/>
          <p:cNvSpPr txBox="1">
            <a:spLocks noGrp="1"/>
          </p:cNvSpPr>
          <p:nvPr>
            <p:ph type="title" idx="2"/>
          </p:nvPr>
        </p:nvSpPr>
        <p:spPr>
          <a:xfrm>
            <a:off x="1392600" y="3556367"/>
            <a:ext cx="2813100" cy="1354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39cd19c857_1_145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77" name="Google Shape;577;g339cd19c857_1_145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g339cd19c857_1_145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g339cd19c857_1_145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39cd19c857_1_145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g339cd19c857_1_145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g339cd19c857_1_145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39cd19c857_1_145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g339cd19c857_1_145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g339cd19c857_1_145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Total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6" name="Google Shape;586;g339cd19c857_1_145"/>
          <p:cNvSpPr txBox="1">
            <a:spLocks noGrp="1"/>
          </p:cNvSpPr>
          <p:nvPr>
            <p:ph type="ftr" idx="11"/>
          </p:nvPr>
        </p:nvSpPr>
        <p:spPr>
          <a:xfrm rot="-5400000">
            <a:off x="9573640" y="27956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SLIDE FOOTER IF REQUIRED</a:t>
            </a:r>
            <a:endParaRPr/>
          </a:p>
        </p:txBody>
      </p:sp>
      <p:sp>
        <p:nvSpPr>
          <p:cNvPr id="587" name="Google Shape;587;g339cd19c857_1_14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588" name="Google Shape;588;g339cd19c857_1_145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9" name="Google Shape;589;g339cd19c857_1_145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0" name="Google Shape;590;g339cd19c857_1_145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1" name="Google Shape;591;g339cd19c857_1_145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2" name="Google Shape;592;g339cd19c857_1_145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3" name="Google Shape;593;g339cd19c857_1_145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4" name="Google Shape;594;g339cd19c857_1_145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5" name="Google Shape;595;g339cd19c857_1_145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6" name="Google Shape;596;g339cd19c857_1_145"/>
          <p:cNvSpPr txBox="1"/>
          <p:nvPr/>
        </p:nvSpPr>
        <p:spPr>
          <a:xfrm>
            <a:off x="70354" y="5368450"/>
            <a:ext cx="18825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{gross_spend}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7" name="Google Shape;597;g339cd19c857_1_145"/>
          <p:cNvSpPr txBox="1"/>
          <p:nvPr/>
        </p:nvSpPr>
        <p:spPr>
          <a:xfrm>
            <a:off x="2033189" y="5393850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8" name="Google Shape;598;g339cd19c857_1_145"/>
          <p:cNvSpPr txBox="1"/>
          <p:nvPr/>
        </p:nvSpPr>
        <p:spPr>
          <a:xfrm>
            <a:off x="3783951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9" name="Google Shape;599;g339cd19c857_1_145"/>
          <p:cNvSpPr txBox="1"/>
          <p:nvPr/>
        </p:nvSpPr>
        <p:spPr>
          <a:xfrm>
            <a:off x="5494875" y="5368456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{N/A}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0" name="Google Shape;600;g339cd19c857_1_145"/>
          <p:cNvSpPr txBox="1"/>
          <p:nvPr/>
        </p:nvSpPr>
        <p:spPr>
          <a:xfrm>
            <a:off x="10299913" y="5368456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£{net_cpm}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01" name="Google Shape;601;g339cd19c857_1_1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g339cd19c857_1_14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g339cd19c857_1_14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g339cd19c857_1_14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g339cd19c857_1_14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g339cd19c857_1_14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g339cd19c857_1_14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39cd19c857_1_145"/>
          <p:cNvSpPr txBox="1"/>
          <p:nvPr/>
        </p:nvSpPr>
        <p:spPr>
          <a:xfrm>
            <a:off x="259089" y="6056839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£{gross_est}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9" name="Google Shape;609;g339cd19c857_1_145"/>
          <p:cNvSpPr txBox="1"/>
          <p:nvPr/>
        </p:nvSpPr>
        <p:spPr>
          <a:xfrm>
            <a:off x="2047779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{imp_est}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0" name="Google Shape;610;g339cd19c857_1_145"/>
          <p:cNvSpPr txBox="1"/>
          <p:nvPr/>
        </p:nvSpPr>
        <p:spPr>
          <a:xfrm>
            <a:off x="3783914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{reach_est}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1" name="Google Shape;611;g339cd19c857_1_145"/>
          <p:cNvSpPr txBox="1"/>
          <p:nvPr/>
        </p:nvSpPr>
        <p:spPr>
          <a:xfrm>
            <a:off x="8575703" y="6056839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75000"/>
                  </a:srgbClr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{ctr_est}</a:t>
            </a:r>
          </a:p>
        </p:txBody>
      </p:sp>
      <p:sp>
        <p:nvSpPr>
          <p:cNvPr id="612" name="Google Shape;612;g339cd19c857_1_145"/>
          <p:cNvSpPr txBox="1"/>
          <p:nvPr/>
        </p:nvSpPr>
        <p:spPr>
          <a:xfrm>
            <a:off x="10184370" y="6055741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£{net_cpm_est}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3" name="Google Shape;613;g339cd19c857_1_145"/>
          <p:cNvSpPr txBox="1"/>
          <p:nvPr/>
        </p:nvSpPr>
        <p:spPr>
          <a:xfrm>
            <a:off x="7148753" y="6047731"/>
            <a:ext cx="1398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{click_est}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4" name="Google Shape;614;g339cd19c857_1_145"/>
          <p:cNvSpPr txBox="1"/>
          <p:nvPr/>
        </p:nvSpPr>
        <p:spPr>
          <a:xfrm>
            <a:off x="5480413" y="6047731"/>
            <a:ext cx="1398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{freq_est}</a:t>
            </a:r>
            <a:endParaRPr lang="en-US" sz="1200" b="0" i="0" u="none" strike="noStrike" cap="none" dirty="0">
              <a:solidFill>
                <a:schemeClr val="accent6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5" name="Google Shape;615;g339cd19c857_1_145"/>
          <p:cNvSpPr txBox="1"/>
          <p:nvPr/>
        </p:nvSpPr>
        <p:spPr>
          <a:xfrm>
            <a:off x="7099513" y="5368456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{clicks}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6" name="Google Shape;616;g339cd19c857_1_145"/>
          <p:cNvSpPr txBox="1"/>
          <p:nvPr/>
        </p:nvSpPr>
        <p:spPr>
          <a:xfrm>
            <a:off x="8695275" y="5357437"/>
            <a:ext cx="1455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sz="2200" dirty="0"/>
              <a:t>{ctr}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39d57e8f9a_0_50"/>
          <p:cNvSpPr txBox="1">
            <a:spLocks noGrp="1"/>
          </p:cNvSpPr>
          <p:nvPr>
            <p:ph type="title"/>
          </p:nvPr>
        </p:nvSpPr>
        <p:spPr>
          <a:xfrm>
            <a:off x="625500" y="620712"/>
            <a:ext cx="109410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2500" b="0" dirty="0">
                <a:solidFill>
                  <a:schemeClr val="accent3"/>
                </a:solidFill>
              </a:rPr>
              <a:t>{estimated_versus_actual</a:t>
            </a:r>
            <a:r>
              <a:rPr lang="en-US" sz="2500" dirty="0">
                <a:solidFill>
                  <a:schemeClr val="accent3"/>
                </a:solidFill>
              </a:rPr>
              <a:t>_</a:t>
            </a:r>
            <a:r>
              <a:rPr lang="en-US" sz="2500" b="0" dirty="0">
                <a:solidFill>
                  <a:schemeClr val="accent3"/>
                </a:solidFill>
              </a:rPr>
              <a:t>performance_commentary}</a:t>
            </a:r>
            <a:endParaRPr sz="2100" dirty="0">
              <a:solidFill>
                <a:schemeClr val="accent3"/>
              </a:solidFill>
            </a:endParaRPr>
          </a:p>
        </p:txBody>
      </p:sp>
      <p:sp>
        <p:nvSpPr>
          <p:cNvPr id="622" name="Google Shape;622;g339d57e8f9a_0_50"/>
          <p:cNvSpPr txBox="1">
            <a:spLocks noGrp="1"/>
          </p:cNvSpPr>
          <p:nvPr>
            <p:ph type="ftr" idx="11"/>
          </p:nvPr>
        </p:nvSpPr>
        <p:spPr>
          <a:xfrm rot="-5400000">
            <a:off x="9573640" y="31004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DELIVERED VERSUS PLANNED</a:t>
            </a:r>
            <a:endParaRPr/>
          </a:p>
        </p:txBody>
      </p:sp>
      <p:sp>
        <p:nvSpPr>
          <p:cNvPr id="623" name="Google Shape;623;g339d57e8f9a_0_5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624" name="Google Shape;624;g339d57e8f9a_0_50"/>
          <p:cNvSpPr txBox="1"/>
          <p:nvPr/>
        </p:nvSpPr>
        <p:spPr>
          <a:xfrm>
            <a:off x="1905463" y="5539600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5" name="Google Shape;625;g339d57e8f9a_0_50"/>
          <p:cNvSpPr txBox="1"/>
          <p:nvPr/>
        </p:nvSpPr>
        <p:spPr>
          <a:xfrm>
            <a:off x="9423901" y="552251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6" name="Google Shape;626;g339d57e8f9a_0_50"/>
          <p:cNvSpPr txBox="1"/>
          <p:nvPr/>
        </p:nvSpPr>
        <p:spPr>
          <a:xfrm>
            <a:off x="5542613" y="5556663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Reach</a:t>
            </a:r>
            <a:endParaRPr sz="15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28" name="Google Shape;628;g339d57e8f9a_0_50"/>
          <p:cNvCxnSpPr/>
          <p:nvPr/>
        </p:nvCxnSpPr>
        <p:spPr>
          <a:xfrm rot="10800000" flipH="1">
            <a:off x="1918438" y="5989275"/>
            <a:ext cx="15468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9" name="Google Shape;629;g339d57e8f9a_0_50"/>
          <p:cNvCxnSpPr/>
          <p:nvPr/>
        </p:nvCxnSpPr>
        <p:spPr>
          <a:xfrm>
            <a:off x="9753588" y="5972163"/>
            <a:ext cx="834000" cy="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30" name="Google Shape;630;g339d57e8f9a_0_50"/>
          <p:cNvCxnSpPr/>
          <p:nvPr/>
        </p:nvCxnSpPr>
        <p:spPr>
          <a:xfrm rot="10800000" flipH="1">
            <a:off x="5886725" y="6000625"/>
            <a:ext cx="767400" cy="6000"/>
          </a:xfrm>
          <a:prstGeom prst="straightConnector1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1" name="Google Shape;631;g339d57e8f9a_0_50"/>
          <p:cNvSpPr txBox="1"/>
          <p:nvPr/>
        </p:nvSpPr>
        <p:spPr>
          <a:xfrm>
            <a:off x="5061352" y="1822397"/>
            <a:ext cx="2737478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Arial"/>
              <a:buNone/>
            </a:pPr>
            <a:r>
              <a:rPr lang="en-US" sz="250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N/A</a:t>
            </a:r>
            <a:endParaRPr lang="en-US" sz="25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33" name="Google Shape;633;g339d57e8f9a_0_50" title="Chart"/>
          <p:cNvPicPr preferRelativeResize="0"/>
          <p:nvPr/>
        </p:nvPicPr>
        <p:blipFill rotWithShape="1">
          <a:blip r:embed="rId3">
            <a:alphaModFix/>
          </a:blip>
          <a:srcRect t="23153"/>
          <a:stretch/>
        </p:blipFill>
        <p:spPr>
          <a:xfrm>
            <a:off x="682475" y="2862000"/>
            <a:ext cx="3428025" cy="2578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g339d57e8f9a_0_50" title="Char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5251" y="2715499"/>
            <a:ext cx="3913662" cy="261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5" name="Google Shape;635;g339d57e8f9a_0_50" title="Chart"/>
          <p:cNvPicPr preferRelativeResize="0"/>
          <p:nvPr/>
        </p:nvPicPr>
        <p:blipFill rotWithShape="1">
          <a:blip r:embed="rId5">
            <a:alphaModFix/>
          </a:blip>
          <a:srcRect t="10538"/>
          <a:stretch/>
        </p:blipFill>
        <p:spPr>
          <a:xfrm>
            <a:off x="8171125" y="2805450"/>
            <a:ext cx="3395374" cy="250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45C14A-20FA-9B89-CDB7-182857E9D2F8}"/>
              </a:ext>
            </a:extLst>
          </p:cNvPr>
          <p:cNvSpPr txBox="1"/>
          <p:nvPr/>
        </p:nvSpPr>
        <p:spPr>
          <a:xfrm>
            <a:off x="1209040" y="1920240"/>
            <a:ext cx="2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chemeClr val="accent6"/>
              </a:buClr>
              <a:buSzPts val="2500"/>
            </a:pPr>
            <a:r>
              <a:rPr lang="en-US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{perc_imp}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DD28B-91F7-3160-EB64-8444AD95968B}"/>
              </a:ext>
            </a:extLst>
          </p:cNvPr>
          <p:cNvSpPr txBox="1"/>
          <p:nvPr/>
        </p:nvSpPr>
        <p:spPr>
          <a:xfrm>
            <a:off x="8905911" y="1874073"/>
            <a:ext cx="2660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chemeClr val="accent6"/>
              </a:buClr>
              <a:buSzPts val="2500"/>
            </a:pPr>
            <a:r>
              <a:rPr lang="en-US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{perc_clicks}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2d8533fe21_0_59"/>
          <p:cNvSpPr txBox="1">
            <a:spLocks noGrp="1"/>
          </p:cNvSpPr>
          <p:nvPr>
            <p:ph type="title"/>
          </p:nvPr>
        </p:nvSpPr>
        <p:spPr>
          <a:xfrm>
            <a:off x="517014" y="454926"/>
            <a:ext cx="10752900" cy="401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2900" dirty="0">
                <a:latin typeface="Poppins"/>
                <a:ea typeface="Poppins"/>
                <a:cs typeface="Poppins"/>
                <a:sym typeface="Poppins"/>
              </a:rPr>
              <a:t>{channel_performance_commentary}</a:t>
            </a:r>
            <a:endParaRPr sz="2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1" name="Google Shape;641;g32d8533fe21_0_59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642" name="Google Shape;642;g32d8533fe21_0_59"/>
          <p:cNvSpPr/>
          <p:nvPr/>
        </p:nvSpPr>
        <p:spPr>
          <a:xfrm>
            <a:off x="555625" y="1913075"/>
            <a:ext cx="1291200" cy="985200"/>
          </a:xfrm>
          <a:prstGeom prst="rect">
            <a:avLst/>
          </a:prstGeom>
          <a:solidFill>
            <a:srgbClr val="33A695"/>
          </a:solidFill>
          <a:ln w="25400" cap="flat" cmpd="sng">
            <a:solidFill>
              <a:srgbClr val="33A6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Overall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3" name="Google Shape;643;g32d8533fe21_0_59"/>
          <p:cNvSpPr/>
          <p:nvPr/>
        </p:nvSpPr>
        <p:spPr>
          <a:xfrm>
            <a:off x="2005394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{reach}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4" name="Google Shape;644;g32d8533fe21_0_59"/>
          <p:cNvSpPr/>
          <p:nvPr/>
        </p:nvSpPr>
        <p:spPr>
          <a:xfrm>
            <a:off x="3189010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{impressions}</a:t>
            </a: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5" name="Google Shape;645;g32d8533fe21_0_59"/>
          <p:cNvSpPr/>
          <p:nvPr/>
        </p:nvSpPr>
        <p:spPr>
          <a:xfrm>
            <a:off x="4352776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>{ctr}</a:t>
            </a: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2d8533fe21_0_59"/>
          <p:cNvSpPr/>
          <p:nvPr/>
        </p:nvSpPr>
        <p:spPr>
          <a:xfrm>
            <a:off x="5536392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et_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47" name="Google Shape;647;g32d8533fe21_0_59"/>
          <p:cNvSpPr/>
          <p:nvPr/>
        </p:nvSpPr>
        <p:spPr>
          <a:xfrm>
            <a:off x="6729936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48" name="Google Shape;648;g32d8533fe21_0_59"/>
          <p:cNvSpPr/>
          <p:nvPr/>
        </p:nvSpPr>
        <p:spPr>
          <a:xfrm>
            <a:off x="7913552" y="191307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£{gross_spend}</a:t>
            </a: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2d8533fe21_0_59"/>
          <p:cNvSpPr/>
          <p:nvPr/>
        </p:nvSpPr>
        <p:spPr>
          <a:xfrm>
            <a:off x="9107096" y="19130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£{brand_rev}</a:t>
            </a: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£{brand_roas} ROAS</a:t>
            </a:r>
            <a:endParaRPr sz="85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brand_roi</a:t>
            </a: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  <a:p>
            <a:pPr algn="ctr">
              <a:buSzPts val="850"/>
            </a:pPr>
            <a:endParaRPr sz="12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2d8533fe21_0_59"/>
          <p:cNvSpPr/>
          <p:nvPr/>
        </p:nvSpPr>
        <p:spPr>
          <a:xfrm>
            <a:off x="3189010" y="1466996"/>
            <a:ext cx="10449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Impressions</a:t>
            </a:r>
            <a:endParaRPr sz="1050" b="1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g32d8533fe21_0_59"/>
          <p:cNvSpPr/>
          <p:nvPr/>
        </p:nvSpPr>
        <p:spPr>
          <a:xfrm>
            <a:off x="2074994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Reach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g32d8533fe21_0_59"/>
          <p:cNvSpPr/>
          <p:nvPr/>
        </p:nvSpPr>
        <p:spPr>
          <a:xfrm>
            <a:off x="4372628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CTR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g32d8533fe21_0_59"/>
          <p:cNvSpPr/>
          <p:nvPr/>
        </p:nvSpPr>
        <p:spPr>
          <a:xfrm>
            <a:off x="5556245" y="1472933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Net CPM</a:t>
            </a:r>
            <a:endParaRPr sz="105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2d8533fe21_0_59"/>
          <p:cNvSpPr/>
          <p:nvPr/>
        </p:nvSpPr>
        <p:spPr>
          <a:xfrm>
            <a:off x="6739862" y="1472933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Link Clicks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g32d8533fe21_0_59"/>
          <p:cNvSpPr/>
          <p:nvPr/>
        </p:nvSpPr>
        <p:spPr>
          <a:xfrm>
            <a:off x="7923479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Gross Spend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g32d8533fe21_0_59"/>
          <p:cNvSpPr/>
          <p:nvPr/>
        </p:nvSpPr>
        <p:spPr>
          <a:xfrm>
            <a:off x="9107096" y="1471371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Brand Revenue</a:t>
            </a:r>
            <a:endParaRPr sz="9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g32d8533fe21_0_59"/>
          <p:cNvSpPr/>
          <p:nvPr/>
        </p:nvSpPr>
        <p:spPr>
          <a:xfrm>
            <a:off x="10392651" y="1913075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£{fsku_rev}</a:t>
            </a:r>
            <a:endParaRPr sz="1400" b="1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algn="ctr">
              <a:buSzPts val="850"/>
            </a:pP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£{fsku_roas} ROAS</a:t>
            </a:r>
          </a:p>
          <a:p>
            <a:pPr algn="ctr">
              <a:buSzPts val="850"/>
            </a:pP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US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fsku_roi</a:t>
            </a:r>
            <a:r>
              <a:rPr lang="en-US" sz="85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</p:txBody>
      </p:sp>
      <p:sp>
        <p:nvSpPr>
          <p:cNvPr id="658" name="Google Shape;658;g32d8533fe21_0_59"/>
          <p:cNvSpPr/>
          <p:nvPr/>
        </p:nvSpPr>
        <p:spPr>
          <a:xfrm>
            <a:off x="10394749" y="1465725"/>
            <a:ext cx="905700" cy="2952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Product Revenue*</a:t>
            </a:r>
            <a:endParaRPr sz="1050" b="0" i="0" u="none" strike="noStrike" cap="none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g32d8533fe21_0_59"/>
          <p:cNvSpPr/>
          <p:nvPr/>
        </p:nvSpPr>
        <p:spPr>
          <a:xfrm>
            <a:off x="555625" y="3076179"/>
            <a:ext cx="1291200" cy="985200"/>
          </a:xfrm>
          <a:prstGeom prst="rect">
            <a:avLst/>
          </a:prstGeom>
          <a:solidFill>
            <a:schemeClr val="accent6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</a:t>
            </a:r>
            <a:endParaRPr sz="18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0" name="Google Shape;660;g32d8533fe21_0_59"/>
          <p:cNvSpPr/>
          <p:nvPr/>
        </p:nvSpPr>
        <p:spPr>
          <a:xfrm>
            <a:off x="1995467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{meta_reach}</a:t>
            </a:r>
          </a:p>
        </p:txBody>
      </p:sp>
      <p:sp>
        <p:nvSpPr>
          <p:cNvPr id="661" name="Google Shape;661;g32d8533fe21_0_59"/>
          <p:cNvSpPr/>
          <p:nvPr/>
        </p:nvSpPr>
        <p:spPr>
          <a:xfrm>
            <a:off x="3189010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  <a:endParaRPr lang="en-US"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2" name="Google Shape;662;g32d8533fe21_0_59"/>
          <p:cNvSpPr/>
          <p:nvPr/>
        </p:nvSpPr>
        <p:spPr>
          <a:xfrm>
            <a:off x="4352776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>{meta_ctr}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g32d8533fe21_0_59"/>
          <p:cNvSpPr/>
          <p:nvPr/>
        </p:nvSpPr>
        <p:spPr>
          <a:xfrm>
            <a:off x="5546319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£{meta_net_cpm}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4" name="Google Shape;664;g32d8533fe21_0_59"/>
          <p:cNvSpPr/>
          <p:nvPr/>
        </p:nvSpPr>
        <p:spPr>
          <a:xfrm>
            <a:off x="6729935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{meta_clicks}</a:t>
            </a: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5" name="Google Shape;665;g32d8533fe21_0_59"/>
          <p:cNvSpPr/>
          <p:nvPr/>
        </p:nvSpPr>
        <p:spPr>
          <a:xfrm>
            <a:off x="7912692" y="30761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£{meta_gross_spend}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66" name="Google Shape;666;g32d8533fe21_0_59"/>
          <p:cNvSpPr/>
          <p:nvPr/>
        </p:nvSpPr>
        <p:spPr>
          <a:xfrm>
            <a:off x="9107096" y="3076179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£{meta_brand_rev}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£{meta_brand_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roas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meta_brand_roi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</p:txBody>
      </p:sp>
      <p:sp>
        <p:nvSpPr>
          <p:cNvPr id="674" name="Google Shape;674;g32d8533fe21_0_59"/>
          <p:cNvSpPr/>
          <p:nvPr/>
        </p:nvSpPr>
        <p:spPr>
          <a:xfrm>
            <a:off x="10392651" y="3076179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£{meta_fsku_rev}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fsku_roas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£{meta_</a:t>
            </a:r>
            <a:r>
              <a:rPr lang="en-US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fsku_roi</a:t>
            </a:r>
            <a:r>
              <a:rPr kumimoji="0" lang="en-US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ROI</a:t>
            </a:r>
          </a:p>
        </p:txBody>
      </p:sp>
      <p:sp>
        <p:nvSpPr>
          <p:cNvPr id="676" name="Google Shape;676;g32d8533fe21_0_59"/>
          <p:cNvSpPr/>
          <p:nvPr/>
        </p:nvSpPr>
        <p:spPr>
          <a:xfrm>
            <a:off x="555625" y="4239283"/>
            <a:ext cx="1291200" cy="985200"/>
          </a:xfrm>
          <a:prstGeom prst="rect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</a:t>
            </a:r>
            <a:endParaRPr sz="18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7" name="Google Shape;677;g32d8533fe21_0_59"/>
          <p:cNvSpPr/>
          <p:nvPr/>
        </p:nvSpPr>
        <p:spPr>
          <a:xfrm>
            <a:off x="2000166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{p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in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_reach}</a:t>
            </a:r>
          </a:p>
        </p:txBody>
      </p:sp>
      <p:sp>
        <p:nvSpPr>
          <p:cNvPr id="678" name="Google Shape;678;g32d8533fe21_0_59"/>
          <p:cNvSpPr/>
          <p:nvPr/>
        </p:nvSpPr>
        <p:spPr>
          <a:xfrm>
            <a:off x="3174387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lang="en-US"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9" name="Google Shape;679;g32d8533fe21_0_59"/>
          <p:cNvSpPr/>
          <p:nvPr/>
        </p:nvSpPr>
        <p:spPr>
          <a:xfrm>
            <a:off x="4365316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t>{pin_ctr}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g32d8533fe21_0_59"/>
          <p:cNvSpPr/>
          <p:nvPr/>
        </p:nvSpPr>
        <p:spPr>
          <a:xfrm>
            <a:off x="5536392" y="4247079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£{pin_net_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1" name="Google Shape;681;g32d8533fe21_0_59"/>
          <p:cNvSpPr/>
          <p:nvPr/>
        </p:nvSpPr>
        <p:spPr>
          <a:xfrm>
            <a:off x="6727321" y="4259388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{pin_clicks}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82" name="Google Shape;682;g32d8533fe21_0_59"/>
          <p:cNvSpPr/>
          <p:nvPr/>
        </p:nvSpPr>
        <p:spPr>
          <a:xfrm>
            <a:off x="7894674" y="4239283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£{pin_gross_spend}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2d8533fe21_0_59"/>
          <p:cNvSpPr/>
          <p:nvPr/>
        </p:nvSpPr>
        <p:spPr>
          <a:xfrm>
            <a:off x="9099783" y="4239283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£{pin_brand_rev}</a:t>
            </a: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£{pin_brand_roas} 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£{pin_brand_roi} 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91" name="Google Shape;691;g32d8533fe21_0_59"/>
          <p:cNvSpPr/>
          <p:nvPr/>
        </p:nvSpPr>
        <p:spPr>
          <a:xfrm>
            <a:off x="10392651" y="4239283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£{pin_fsku_rev}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£{pin_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fsku_roas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ROAS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pin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_fsku_roi} ROI</a:t>
            </a:r>
          </a:p>
        </p:txBody>
      </p:sp>
      <p:sp>
        <p:nvSpPr>
          <p:cNvPr id="693" name="Google Shape;693;g32d8533fe21_0_59"/>
          <p:cNvSpPr txBox="1"/>
          <p:nvPr/>
        </p:nvSpPr>
        <p:spPr>
          <a:xfrm>
            <a:off x="374345" y="6382327"/>
            <a:ext cx="10363800" cy="60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1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*Product measurement is only available on Meta.</a:t>
            </a:r>
            <a:endParaRPr sz="1400" b="0" i="1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676;g32d8533fe21_0_59">
            <a:extLst>
              <a:ext uri="{FF2B5EF4-FFF2-40B4-BE49-F238E27FC236}">
                <a16:creationId xmlns:a16="http://schemas.microsoft.com/office/drawing/2014/main" id="{C966332C-C4BC-B578-F3B7-80ABBE8D5F6C}"/>
              </a:ext>
            </a:extLst>
          </p:cNvPr>
          <p:cNvSpPr/>
          <p:nvPr/>
        </p:nvSpPr>
        <p:spPr>
          <a:xfrm>
            <a:off x="555625" y="5397127"/>
            <a:ext cx="1291200" cy="985200"/>
          </a:xfrm>
          <a:prstGeom prst="rect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TikTok</a:t>
            </a:r>
            <a:endParaRPr sz="18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677;g32d8533fe21_0_59">
            <a:extLst>
              <a:ext uri="{FF2B5EF4-FFF2-40B4-BE49-F238E27FC236}">
                <a16:creationId xmlns:a16="http://schemas.microsoft.com/office/drawing/2014/main" id="{332F09D0-9F3B-B360-13EB-AEE0D426E325}"/>
              </a:ext>
            </a:extLst>
          </p:cNvPr>
          <p:cNvSpPr/>
          <p:nvPr/>
        </p:nvSpPr>
        <p:spPr>
          <a:xfrm>
            <a:off x="2000166" y="5403064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{tik_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each}</a:t>
            </a:r>
          </a:p>
        </p:txBody>
      </p:sp>
      <p:sp>
        <p:nvSpPr>
          <p:cNvPr id="4" name="Google Shape;678;g32d8533fe21_0_59">
            <a:extLst>
              <a:ext uri="{FF2B5EF4-FFF2-40B4-BE49-F238E27FC236}">
                <a16:creationId xmlns:a16="http://schemas.microsoft.com/office/drawing/2014/main" id="{778F5C8A-6733-D9FA-11D5-66C47755F0DF}"/>
              </a:ext>
            </a:extLst>
          </p:cNvPr>
          <p:cNvSpPr/>
          <p:nvPr/>
        </p:nvSpPr>
        <p:spPr>
          <a:xfrm>
            <a:off x="3174387" y="5400096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{tik_impressions}</a:t>
            </a:r>
            <a:endParaRPr lang="en-US"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679;g32d8533fe21_0_59">
            <a:extLst>
              <a:ext uri="{FF2B5EF4-FFF2-40B4-BE49-F238E27FC236}">
                <a16:creationId xmlns:a16="http://schemas.microsoft.com/office/drawing/2014/main" id="{A161F62A-4129-6ADF-4314-CC98B16651AC}"/>
              </a:ext>
            </a:extLst>
          </p:cNvPr>
          <p:cNvSpPr/>
          <p:nvPr/>
        </p:nvSpPr>
        <p:spPr>
          <a:xfrm>
            <a:off x="4365316" y="5409002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t>{tik_ctr}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680;g32d8533fe21_0_59">
            <a:extLst>
              <a:ext uri="{FF2B5EF4-FFF2-40B4-BE49-F238E27FC236}">
                <a16:creationId xmlns:a16="http://schemas.microsoft.com/office/drawing/2014/main" id="{051AC717-E0DD-7D7E-5EE6-CD6CE0E50255}"/>
              </a:ext>
            </a:extLst>
          </p:cNvPr>
          <p:cNvSpPr/>
          <p:nvPr/>
        </p:nvSpPr>
        <p:spPr>
          <a:xfrm>
            <a:off x="5542329" y="5410860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et_</a:t>
            </a:r>
            <a:r>
              <a:rPr lang="en-US" sz="14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14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Google Shape;681;g32d8533fe21_0_59">
            <a:extLst>
              <a:ext uri="{FF2B5EF4-FFF2-40B4-BE49-F238E27FC236}">
                <a16:creationId xmlns:a16="http://schemas.microsoft.com/office/drawing/2014/main" id="{36FC8AB7-5DF6-C0D4-D67A-FA6B3FD5D256}"/>
              </a:ext>
            </a:extLst>
          </p:cNvPr>
          <p:cNvSpPr/>
          <p:nvPr/>
        </p:nvSpPr>
        <p:spPr>
          <a:xfrm>
            <a:off x="6733258" y="5411295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{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_</a:t>
            </a:r>
            <a:r>
              <a:rPr lang="en-US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c</a:t>
            </a:r>
            <a:r>
              <a:rPr lang="en-US" sz="1400" b="1" i="0" u="none" strike="noStrike" cap="none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12121A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" name="Google Shape;682;g32d8533fe21_0_59">
            <a:extLst>
              <a:ext uri="{FF2B5EF4-FFF2-40B4-BE49-F238E27FC236}">
                <a16:creationId xmlns:a16="http://schemas.microsoft.com/office/drawing/2014/main" id="{87AA4F5E-7CA0-27DF-0F6C-79234986E0A6}"/>
              </a:ext>
            </a:extLst>
          </p:cNvPr>
          <p:cNvSpPr/>
          <p:nvPr/>
        </p:nvSpPr>
        <p:spPr>
          <a:xfrm>
            <a:off x="7900611" y="5403064"/>
            <a:ext cx="10449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400"/>
            </a:pPr>
            <a:r>
              <a:rPr lang="en-US" sz="1400" b="1" dirty="0">
                <a:solidFill>
                  <a:srgbClr val="12121A"/>
                </a:solidFill>
                <a:latin typeface="Poppins Light"/>
                <a:cs typeface="Poppins Light"/>
                <a:sym typeface="Poppins Light"/>
              </a:rPr>
              <a:t>£{tik_gross_spend}</a:t>
            </a:r>
            <a:endParaRPr lang="en-US" sz="1400" b="0" i="0" u="none" strike="noStrike" cap="none" dirty="0">
              <a:solidFill>
                <a:srgbClr val="12121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683;g32d8533fe21_0_59">
            <a:extLst>
              <a:ext uri="{FF2B5EF4-FFF2-40B4-BE49-F238E27FC236}">
                <a16:creationId xmlns:a16="http://schemas.microsoft.com/office/drawing/2014/main" id="{F92474E4-D344-E676-AF89-203EECD07A13}"/>
              </a:ext>
            </a:extLst>
          </p:cNvPr>
          <p:cNvSpPr/>
          <p:nvPr/>
        </p:nvSpPr>
        <p:spPr>
          <a:xfrm>
            <a:off x="9111658" y="5397127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140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£{tik_brand_rev}</a:t>
            </a:r>
            <a:endParaRPr kumimoji="0" lang="en-GB" sz="140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£{tik_brand_roas} 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  <a:tabLst/>
              <a:defRPr/>
            </a:pP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£{tik_brand_roi} 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0" name="Google Shape;691;g32d8533fe21_0_59">
            <a:extLst>
              <a:ext uri="{FF2B5EF4-FFF2-40B4-BE49-F238E27FC236}">
                <a16:creationId xmlns:a16="http://schemas.microsoft.com/office/drawing/2014/main" id="{51204B72-DDAC-7166-00B3-17AAA4249220}"/>
              </a:ext>
            </a:extLst>
          </p:cNvPr>
          <p:cNvSpPr/>
          <p:nvPr/>
        </p:nvSpPr>
        <p:spPr>
          <a:xfrm>
            <a:off x="10398589" y="5414940"/>
            <a:ext cx="1165200" cy="985200"/>
          </a:xfrm>
          <a:prstGeom prst="rect">
            <a:avLst/>
          </a:prstGeom>
          <a:solidFill>
            <a:srgbClr val="D8D8D8"/>
          </a:solidFill>
          <a:ln w="254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140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</a:t>
            </a: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_fsku_rev}</a:t>
            </a:r>
          </a:p>
          <a:p>
            <a:pPr algn="ctr">
              <a:buClr>
                <a:srgbClr val="000000"/>
              </a:buClr>
              <a:buSzPts val="850"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_fsku_roas} </a:t>
            </a: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ROAS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850"/>
              <a:defRPr/>
            </a:pP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£{</a:t>
            </a:r>
            <a:r>
              <a:rPr lang="en-GB" sz="850" b="1" kern="0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tik_fsku_roi</a:t>
            </a:r>
            <a:r>
              <a:rPr kumimoji="0" lang="en-GB" sz="850" b="1" i="0" u="none" strike="noStrike" kern="0" cap="none" spc="0" normalizeH="0" baseline="0" noProof="0" dirty="0">
                <a:ln>
                  <a:noFill/>
                </a:ln>
                <a:solidFill>
                  <a:srgbClr val="12121A"/>
                </a:solidFill>
                <a:effectLst/>
                <a:uLnTx/>
                <a:uFillTx/>
                <a:latin typeface="Poppins Light"/>
                <a:ea typeface="Poppins Light"/>
                <a:cs typeface="Poppins Light"/>
                <a:sym typeface="Poppins Light"/>
              </a:rPr>
              <a:t>} </a:t>
            </a:r>
            <a:r>
              <a:rPr lang="en-GB" sz="850" b="1" dirty="0">
                <a:solidFill>
                  <a:srgbClr val="12121A"/>
                </a:solidFill>
                <a:latin typeface="Poppins Light"/>
                <a:ea typeface="Poppins Light"/>
                <a:cs typeface="Poppins Light"/>
                <a:sym typeface="Poppins Light"/>
              </a:rPr>
              <a:t>ROI</a:t>
            </a:r>
            <a:endParaRPr kumimoji="0" lang="en-GB" sz="850" b="1" i="0" u="none" strike="noStrike" kern="0" cap="none" spc="0" normalizeH="0" baseline="0" noProof="0" dirty="0">
              <a:ln>
                <a:noFill/>
              </a:ln>
              <a:solidFill>
                <a:srgbClr val="12121A"/>
              </a:solidFill>
              <a:effectLst/>
              <a:uLnTx/>
              <a:uFillTx/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68c941c3c_0_64"/>
          <p:cNvSpPr txBox="1">
            <a:spLocks noGrp="1"/>
          </p:cNvSpPr>
          <p:nvPr>
            <p:ph type="title"/>
          </p:nvPr>
        </p:nvSpPr>
        <p:spPr>
          <a:xfrm>
            <a:off x="847925" y="567424"/>
            <a:ext cx="1084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/>
              <a:t>{brand_and_fsku_roas_performance_wrt_overall_traffic_performance_commentary} </a:t>
            </a:r>
            <a:endParaRPr sz="3200" dirty="0"/>
          </a:p>
        </p:txBody>
      </p:sp>
      <p:sp>
        <p:nvSpPr>
          <p:cNvPr id="647" name="Google Shape;647;g3768c941c3c_0_64"/>
          <p:cNvSpPr/>
          <p:nvPr/>
        </p:nvSpPr>
        <p:spPr>
          <a:xfrm>
            <a:off x="7697064" y="2372700"/>
            <a:ext cx="2878800" cy="17313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Brand ROAS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900" b="0" i="0" u="none" strike="noStrike" cap="none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{brand_roas}</a:t>
            </a:r>
          </a:p>
        </p:txBody>
      </p:sp>
      <p:sp>
        <p:nvSpPr>
          <p:cNvPr id="648" name="Google Shape;648;g3768c941c3c_0_64"/>
          <p:cNvSpPr/>
          <p:nvPr/>
        </p:nvSpPr>
        <p:spPr>
          <a:xfrm>
            <a:off x="7697037" y="4276928"/>
            <a:ext cx="2878800" cy="1731300"/>
          </a:xfrm>
          <a:prstGeom prst="roundRect">
            <a:avLst>
              <a:gd name="adj" fmla="val 675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FSKU ROAS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500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{fsku_ </a:t>
            </a:r>
            <a:r>
              <a:rPr lang="en-US" sz="20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roas}</a:t>
            </a:r>
            <a:endParaRPr lang="en-US" sz="20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1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768c941c3c_0_64"/>
          <p:cNvSpPr/>
          <p:nvPr/>
        </p:nvSpPr>
        <p:spPr>
          <a:xfrm>
            <a:off x="4656589" y="2372700"/>
            <a:ext cx="2878800" cy="17313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Brand Revenue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900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{brand_rev}</a:t>
            </a:r>
          </a:p>
        </p:txBody>
      </p:sp>
      <p:sp>
        <p:nvSpPr>
          <p:cNvPr id="650" name="Google Shape;650;g3768c941c3c_0_64"/>
          <p:cNvSpPr/>
          <p:nvPr/>
        </p:nvSpPr>
        <p:spPr>
          <a:xfrm>
            <a:off x="4656597" y="4276928"/>
            <a:ext cx="2878800" cy="1731300"/>
          </a:xfrm>
          <a:prstGeom prst="roundRect">
            <a:avLst>
              <a:gd name="adj" fmla="val 675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FSKU Revenue</a:t>
            </a:r>
          </a:p>
          <a:p>
            <a:pPr marL="0" lvl="0" indent="609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500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{fsku</a:t>
            </a:r>
            <a:r>
              <a:rPr lang="en-US" sz="20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_r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ev}</a:t>
            </a:r>
          </a:p>
        </p:txBody>
      </p:sp>
      <p:sp>
        <p:nvSpPr>
          <p:cNvPr id="651" name="Google Shape;651;g3768c941c3c_0_64"/>
          <p:cNvSpPr/>
          <p:nvPr/>
        </p:nvSpPr>
        <p:spPr>
          <a:xfrm>
            <a:off x="1616149" y="2372700"/>
            <a:ext cx="2878800" cy="17313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Brand Units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900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{brand_units}</a:t>
            </a:r>
          </a:p>
        </p:txBody>
      </p:sp>
      <p:sp>
        <p:nvSpPr>
          <p:cNvPr id="652" name="Google Shape;652;g3768c941c3c_0_64"/>
          <p:cNvSpPr/>
          <p:nvPr/>
        </p:nvSpPr>
        <p:spPr>
          <a:xfrm>
            <a:off x="1616157" y="4276928"/>
            <a:ext cx="2878800" cy="1731300"/>
          </a:xfrm>
          <a:prstGeom prst="roundRect">
            <a:avLst>
              <a:gd name="adj" fmla="val 675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GB" sz="32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FSKU Units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500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{fsku_ </a:t>
            </a:r>
            <a:r>
              <a:rPr lang="en-US" sz="20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nits}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768c941c3c_0_76"/>
          <p:cNvSpPr txBox="1">
            <a:spLocks noGrp="1"/>
          </p:cNvSpPr>
          <p:nvPr>
            <p:ph type="title"/>
          </p:nvPr>
        </p:nvSpPr>
        <p:spPr>
          <a:xfrm>
            <a:off x="553275" y="805104"/>
            <a:ext cx="106377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500" dirty="0"/>
              <a:t>{percentage_of_instore_online_sales_commentary}</a:t>
            </a:r>
            <a:endParaRPr sz="35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0" name="Google Shape;660;g3768c941c3c_0_76"/>
          <p:cNvSpPr/>
          <p:nvPr/>
        </p:nvSpPr>
        <p:spPr>
          <a:xfrm>
            <a:off x="2395501" y="4571624"/>
            <a:ext cx="2393700" cy="1767900"/>
          </a:xfrm>
          <a:prstGeom prst="roundRect">
            <a:avLst>
              <a:gd name="adj" fmla="val 6755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 Store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Unit Sales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instore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_units}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1" name="Google Shape;661;g3768c941c3c_0_76"/>
          <p:cNvSpPr/>
          <p:nvPr/>
        </p:nvSpPr>
        <p:spPr>
          <a:xfrm>
            <a:off x="4920864" y="2670439"/>
            <a:ext cx="2350500" cy="17679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Revenue</a:t>
            </a:r>
            <a:endParaRPr sz="29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revenue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2" name="Google Shape;662;g3768c941c3c_0_76"/>
          <p:cNvSpPr/>
          <p:nvPr/>
        </p:nvSpPr>
        <p:spPr>
          <a:xfrm>
            <a:off x="4899264" y="4594599"/>
            <a:ext cx="2393700" cy="1767900"/>
          </a:xfrm>
          <a:prstGeom prst="roundRect">
            <a:avLst>
              <a:gd name="adj" fmla="val 6755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 Store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Revenue</a:t>
            </a:r>
            <a:endParaRPr sz="20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revenue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3" name="Google Shape;663;g3768c941c3c_0_76"/>
          <p:cNvSpPr/>
          <p:nvPr/>
        </p:nvSpPr>
        <p:spPr>
          <a:xfrm>
            <a:off x="7403181" y="2670439"/>
            <a:ext cx="2350500" cy="17679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 AOV</a:t>
            </a:r>
            <a:endParaRPr sz="29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</a:t>
            </a:r>
            <a:r>
              <a:rPr lang="en-US" sz="1600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aov</a:t>
            </a: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4" name="Google Shape;664;g3768c941c3c_0_76"/>
          <p:cNvSpPr/>
          <p:nvPr/>
        </p:nvSpPr>
        <p:spPr>
          <a:xfrm>
            <a:off x="7403275" y="4571625"/>
            <a:ext cx="2350500" cy="1767900"/>
          </a:xfrm>
          <a:prstGeom prst="roundRect">
            <a:avLst>
              <a:gd name="adj" fmla="val 6755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In Store AOV</a:t>
            </a:r>
            <a:endParaRPr sz="29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lvl="0" algn="ctr">
              <a:buClr>
                <a:srgbClr val="000000"/>
              </a:buClr>
              <a:buSzPts val="1600"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{instore_aov}</a:t>
            </a:r>
            <a:endParaRPr lang="en-US"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5" name="Google Shape;665;g3768c941c3c_0_76"/>
          <p:cNvSpPr/>
          <p:nvPr/>
        </p:nvSpPr>
        <p:spPr>
          <a:xfrm>
            <a:off x="2395368" y="2670424"/>
            <a:ext cx="2393700" cy="1767900"/>
          </a:xfrm>
          <a:prstGeom prst="roundRect">
            <a:avLst>
              <a:gd name="adj" fmla="val 6755"/>
            </a:avLst>
          </a:prstGeom>
          <a:solidFill>
            <a:srgbClr val="33A695"/>
          </a:solidFill>
          <a:ln>
            <a:noFill/>
          </a:ln>
        </p:spPr>
        <p:txBody>
          <a:bodyPr spcFirstLastPara="1" wrap="square" lIns="243825" tIns="121900" rIns="243825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Online </a:t>
            </a:r>
            <a:r>
              <a:rPr lang="en-US" sz="29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Unit Sales</a:t>
            </a:r>
            <a:endParaRPr sz="32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60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i="0" u="none" strike="noStrike" cap="none" dirty="0">
                <a:solidFill>
                  <a:schemeClr val="lt1"/>
                </a:solidFill>
                <a:latin typeface="Poppins Light"/>
                <a:ea typeface="Poppins"/>
                <a:cs typeface="Poppins Light"/>
                <a:sym typeface="Poppins Light"/>
              </a:rPr>
              <a:t>{online_units}</a:t>
            </a:r>
            <a:endParaRPr sz="1500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39d57e8f9a_0_272"/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/>
              <a:t>Post-campaign Report: Meta</a:t>
            </a:r>
            <a:endParaRPr/>
          </a:p>
        </p:txBody>
      </p:sp>
      <p:sp>
        <p:nvSpPr>
          <p:cNvPr id="672" name="Google Shape;672;g339d57e8f9a_0_272"/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8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5" name="Google Shape;805;p18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8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Campaign Summary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18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808" name="Google Shape;808;p18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18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18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18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18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3" name="Google Shape;813;p18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4" name="Google Shape;814;p18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18"/>
          <p:cNvSpPr txBox="1"/>
          <p:nvPr/>
        </p:nvSpPr>
        <p:spPr>
          <a:xfrm>
            <a:off x="42839" y="5109960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£{meta_gross_spend}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18"/>
          <p:cNvSpPr txBox="1"/>
          <p:nvPr/>
        </p:nvSpPr>
        <p:spPr>
          <a:xfrm>
            <a:off x="1933657" y="5104195"/>
            <a:ext cx="1762644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{meta_impressions}</a:t>
            </a:r>
          </a:p>
        </p:txBody>
      </p:sp>
      <p:sp>
        <p:nvSpPr>
          <p:cNvPr id="818" name="Google Shape;818;p18"/>
          <p:cNvSpPr txBox="1"/>
          <p:nvPr/>
        </p:nvSpPr>
        <p:spPr>
          <a:xfrm>
            <a:off x="3783913" y="511236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{meta_reach}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9" name="Google Shape;819;p18"/>
          <p:cNvSpPr txBox="1"/>
          <p:nvPr/>
        </p:nvSpPr>
        <p:spPr>
          <a:xfrm>
            <a:off x="5473377" y="510419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eta_freq}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0" name="Google Shape;820;p18"/>
          <p:cNvSpPr txBox="1"/>
          <p:nvPr/>
        </p:nvSpPr>
        <p:spPr>
          <a:xfrm>
            <a:off x="10328562" y="5112997"/>
            <a:ext cx="1700877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£{meta_net_cpm}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/>
          <p:cNvSpPr txBox="1"/>
          <p:nvPr/>
        </p:nvSpPr>
        <p:spPr>
          <a:xfrm>
            <a:off x="298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18"/>
          <p:cNvSpPr txBox="1"/>
          <p:nvPr/>
        </p:nvSpPr>
        <p:spPr>
          <a:xfrm>
            <a:off x="2041413" y="5891656"/>
            <a:ext cx="13983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Clr>
                <a:srgbClr val="100228"/>
              </a:buClr>
              <a:buSzPts val="2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18"/>
          <p:cNvSpPr txBox="1"/>
          <p:nvPr/>
        </p:nvSpPr>
        <p:spPr>
          <a:xfrm>
            <a:off x="3783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18"/>
          <p:cNvSpPr txBox="1"/>
          <p:nvPr/>
        </p:nvSpPr>
        <p:spPr>
          <a:xfrm>
            <a:off x="8804563" y="5891656"/>
            <a:ext cx="149573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}%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18"/>
          <p:cNvSpPr txBox="1"/>
          <p:nvPr/>
        </p:nvSpPr>
        <p:spPr>
          <a:xfrm>
            <a:off x="1032856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18"/>
          <p:cNvSpPr txBox="1"/>
          <p:nvPr/>
        </p:nvSpPr>
        <p:spPr>
          <a:xfrm>
            <a:off x="7181301" y="59071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{meta_est_clicks}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18"/>
          <p:cNvSpPr txBox="1"/>
          <p:nvPr/>
        </p:nvSpPr>
        <p:spPr>
          <a:xfrm>
            <a:off x="55580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{meta_est_freq}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18"/>
          <p:cNvSpPr txBox="1"/>
          <p:nvPr/>
        </p:nvSpPr>
        <p:spPr>
          <a:xfrm>
            <a:off x="7238601" y="5102576"/>
            <a:ext cx="13410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18"/>
          <p:cNvSpPr txBox="1"/>
          <p:nvPr/>
        </p:nvSpPr>
        <p:spPr>
          <a:xfrm>
            <a:off x="8636901" y="5102576"/>
            <a:ext cx="1811238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sz="2200" dirty="0">
                <a:latin typeface="Poppins" pitchFamily="2" charset="77"/>
                <a:cs typeface="Poppins" pitchFamily="2" charset="77"/>
              </a:rPr>
              <a:t>{meta_ctr}</a:t>
            </a:r>
            <a:endParaRPr sz="2200" b="0" i="0" u="none" strike="noStrike" cap="none" dirty="0">
              <a:solidFill>
                <a:schemeClr val="dk1"/>
              </a:solidFill>
              <a:latin typeface="Poppins" pitchFamily="2" charset="77"/>
              <a:ea typeface="Poppins"/>
              <a:cs typeface="Poppins" pitchFamily="2" charset="77"/>
              <a:sym typeface="Poppins"/>
            </a:endParaRPr>
          </a:p>
        </p:txBody>
      </p:sp>
      <p:sp>
        <p:nvSpPr>
          <p:cNvPr id="830" name="Google Shape;830;p18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8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8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8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8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9" name="Google Shape;839;p1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0" name="Google Shape;840;p1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1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39cd19c857_1_323"/>
          <p:cNvSpPr txBox="1"/>
          <p:nvPr/>
        </p:nvSpPr>
        <p:spPr>
          <a:xfrm>
            <a:off x="3968338" y="2938024"/>
            <a:ext cx="7233600" cy="353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Strongest sales performance from brand-loyal customers</a:t>
            </a: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{meta_two_audiences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_with_strongest_roas_commentary}</a:t>
            </a:r>
            <a:endParaRPr sz="13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Broad category and competitor audiences helped drive awareness </a:t>
            </a:r>
            <a:endParaRPr sz="13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{meta_intuitive_comme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ntary_about_audience_performance_commentary}</a:t>
            </a: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g339cd19c857_1_323"/>
          <p:cNvGrpSpPr/>
          <p:nvPr/>
        </p:nvGrpSpPr>
        <p:grpSpPr>
          <a:xfrm>
            <a:off x="1181761" y="3332055"/>
            <a:ext cx="2044878" cy="2023564"/>
            <a:chOff x="5504000" y="3563425"/>
            <a:chExt cx="365725" cy="361900"/>
          </a:xfrm>
        </p:grpSpPr>
        <p:sp>
          <p:nvSpPr>
            <p:cNvPr id="725" name="Google Shape;725;g339cd19c857_1_323"/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g339cd19c857_1_323"/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g339cd19c857_1_323"/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g339cd19c857_1_323"/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g339cd19c857_1_323"/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g339cd19c857_1_323"/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1" name="Google Shape;731;g339cd19c857_1_323"/>
          <p:cNvSpPr txBox="1">
            <a:spLocks noGrp="1"/>
          </p:cNvSpPr>
          <p:nvPr>
            <p:ph type="title"/>
          </p:nvPr>
        </p:nvSpPr>
        <p:spPr>
          <a:xfrm>
            <a:off x="527925" y="932125"/>
            <a:ext cx="103836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600" dirty="0"/>
              <a:t>{meta_audience_performance_commentary}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/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withstrongestroas_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imp_m}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_spend_m}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_freq_m}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/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{adwithstrongestroas_ctr_m}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/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{meta_ad_with_strongest_roas_and_impressions_commentary}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/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with_strongest_roas_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5326FEC2-671B-F26A-C4A6-5794F4FF9C69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{meta_ad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_with_strongest_roas_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746C3EA6-71B1-3949-3F05-B1ED1EAA4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93CE3796-ECE6-F591-B527-BF4FFBD237DF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withweakestroas_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imp_m}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_spend_m}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_freq_m}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4A6C37C4-B223-5FE4-A4A5-40417B68C241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_clicks_m}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{adwithweakestroas_ctr_m}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4BAF0CCB-4B0B-A33D-086C-31EEFBDB6D8A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{meta_ad_with_weakest_roas_and_impressions_commentary}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508E8272-B7AE-A2ED-26F1-F24B459E0C94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{meta_ad_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with_weakest_roas_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DA550184-FC72-2092-B99D-73D0271DFB60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{meta_ad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_with_weakest_roas_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989056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/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866" name="Google Shape;866;g339cd19c857_1_791"/>
          <p:cNvSpPr txBox="1">
            <a:spLocks noGrp="1"/>
          </p:cNvSpPr>
          <p:nvPr>
            <p:ph type="title"/>
          </p:nvPr>
        </p:nvSpPr>
        <p:spPr>
          <a:xfrm>
            <a:off x="229154" y="399033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Audience Performance breakdown</a:t>
            </a:r>
            <a:endParaRPr sz="3200" b="1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/>
          <p:cNvGraphicFramePr/>
          <p:nvPr>
            <p:extLst>
              <p:ext uri="{D42A27DB-BD31-4B8C-83A1-F6EECF244321}">
                <p14:modId xmlns:p14="http://schemas.microsoft.com/office/powerpoint/2010/main" val="2789351998"/>
              </p:ext>
            </p:extLst>
          </p:nvPr>
        </p:nvGraphicFramePr>
        <p:xfrm>
          <a:off x="229154" y="1050556"/>
          <a:ext cx="11621225" cy="54084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525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8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4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46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46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10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40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95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498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70003">
                  <a:extLst>
                    <a:ext uri="{9D8B030D-6E8A-4147-A177-3AD203B41FA5}">
                      <a16:colId xmlns:a16="http://schemas.microsoft.com/office/drawing/2014/main" val="823453601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Audience Segment</a:t>
                      </a: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Net Spend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Impressions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Reach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Frequency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Clicks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CTR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Net CPM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Brand</a:t>
                      </a:r>
                    </a:p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Revenue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chemeClr val="bg1"/>
                          </a:solidFill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{m_netspend_3}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{m_netspend_4}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{m_imp_4</a:t>
                      </a:r>
                      <a:r>
                        <a:rPr lang="en-GB" sz="1000" dirty="0">
                          <a:latin typeface="Poppins" pitchFamily="2" charset="77"/>
                          <a:cs typeface="Poppins" pitchFamily="2" charset="77"/>
                        </a:rPr>
                        <a:t>$</a:t>
                      </a:r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{m_netspend_11}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{m_imp_11}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{m_reach_11}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{m_roi_11}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{m_roas_11}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{m_netspend_12}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{m_imp_12}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{m_reach_12}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{m_roi_12}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{m_roas_12}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20B3E64-6CA4-5FE7-3DF6-CDA8F7FC76A4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graphicFrame>
        <p:nvGraphicFramePr>
          <p:cNvPr id="851" name="Google Shape;851;g32d8533fe21_0_44"/>
          <p:cNvGraphicFramePr/>
          <p:nvPr>
            <p:extLst>
              <p:ext uri="{D42A27DB-BD31-4B8C-83A1-F6EECF244321}">
                <p14:modId xmlns:p14="http://schemas.microsoft.com/office/powerpoint/2010/main" val="3975668985"/>
              </p:ext>
            </p:extLst>
          </p:nvPr>
        </p:nvGraphicFramePr>
        <p:xfrm>
          <a:off x="2304605" y="1954862"/>
          <a:ext cx="7582800" cy="426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rPr dirty="0">
                          <a:latin typeface="Poppins" pitchFamily="2" charset="77"/>
                          <a:cs typeface="Poppins" pitchFamily="2" charset="77"/>
                        </a:rP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latin typeface="Poppins" pitchFamily="2" charset="77"/>
                          <a:cs typeface="Poppins" pitchFamily="2" charset="77"/>
                        </a:rPr>
                        <a:t> Total Issey Miyake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{meta_brand_instore_revenue}</a:t>
                      </a:r>
                    </a:p>
                    <a:p>
                      <a:endParaRPr sz="100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{meta_brand_online_perc_sales}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{meta_brand_instore_perc_sales}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/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graphicFrame>
        <p:nvGraphicFramePr>
          <p:cNvPr id="858" name="Google Shape;858;g32d8533fe21_0_51"/>
          <p:cNvGraphicFramePr/>
          <p:nvPr>
            <p:extLst>
              <p:ext uri="{D42A27DB-BD31-4B8C-83A1-F6EECF244321}">
                <p14:modId xmlns:p14="http://schemas.microsoft.com/office/powerpoint/2010/main" val="1917050529"/>
              </p:ext>
            </p:extLst>
          </p:nvPr>
        </p:nvGraphicFramePr>
        <p:xfrm>
          <a:off x="2304605" y="1954862"/>
          <a:ext cx="7582800" cy="42537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 Total Issey Miyake FSKUs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{meta_fsku_instore_revenue}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{FSKU_online_perc_sales_meta}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{FSKU_instore_perc_sales_meta</a:t>
                      </a:r>
                    </a:p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60" name="Google Shape;860;g32d8533fe21_0_51"/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>
                <a:solidFill>
                  <a:srgbClr val="12121A"/>
                </a:solidFill>
              </a:rPr>
              <a:t>Featured product </a:t>
            </a:r>
            <a:r>
              <a:rPr lang="en-US" sz="320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 did our Meta campaign drive?</a:t>
            </a:r>
            <a:endParaRPr sz="320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>
          <a:extLst>
            <a:ext uri="{FF2B5EF4-FFF2-40B4-BE49-F238E27FC236}">
              <a16:creationId xmlns:a16="http://schemas.microsoft.com/office/drawing/2014/main" id="{B746095F-53AE-62BC-DCAE-98A4A7EE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39d57e8f9a_0_272">
            <a:extLst>
              <a:ext uri="{FF2B5EF4-FFF2-40B4-BE49-F238E27FC236}">
                <a16:creationId xmlns:a16="http://schemas.microsoft.com/office/drawing/2014/main" id="{4434D57E-D4B7-6CC7-269A-A1F230816A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/>
              <a:t>Post-campaign Report: TikTok</a:t>
            </a:r>
            <a:endParaRPr dirty="0"/>
          </a:p>
        </p:txBody>
      </p:sp>
      <p:sp>
        <p:nvSpPr>
          <p:cNvPr id="672" name="Google Shape;672;g339d57e8f9a_0_272">
            <a:extLst>
              <a:ext uri="{FF2B5EF4-FFF2-40B4-BE49-F238E27FC236}">
                <a16:creationId xmlns:a16="http://schemas.microsoft.com/office/drawing/2014/main" id="{F64DAECB-5333-F6CB-42C1-4E51F242521B}"/>
              </a:ext>
            </a:extLst>
          </p:cNvPr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5040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>
          <a:extLst>
            <a:ext uri="{FF2B5EF4-FFF2-40B4-BE49-F238E27FC236}">
              <a16:creationId xmlns:a16="http://schemas.microsoft.com/office/drawing/2014/main" id="{9C32887B-9109-CD23-080B-B55BE420E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18">
            <a:extLst>
              <a:ext uri="{FF2B5EF4-FFF2-40B4-BE49-F238E27FC236}">
                <a16:creationId xmlns:a16="http://schemas.microsoft.com/office/drawing/2014/main" id="{2BE21091-1AB0-3AB0-60C6-AE8981E8BCDA}"/>
              </a:ext>
            </a:extLst>
          </p:cNvPr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5" name="Google Shape;805;p18" descr="US private equity closes in on Boots: Bosses set midnight deadline for  first bids | This is Money">
            <a:extLst>
              <a:ext uri="{FF2B5EF4-FFF2-40B4-BE49-F238E27FC236}">
                <a16:creationId xmlns:a16="http://schemas.microsoft.com/office/drawing/2014/main" id="{E3EF0C58-AC2A-E9FA-50AC-E4F110F89B99}"/>
              </a:ext>
            </a:extLst>
          </p:cNvPr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8">
            <a:extLst>
              <a:ext uri="{FF2B5EF4-FFF2-40B4-BE49-F238E27FC236}">
                <a16:creationId xmlns:a16="http://schemas.microsoft.com/office/drawing/2014/main" id="{D18CD1E3-B67F-E0C7-1C78-42E53993D2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TikTok Campaign Summary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18">
            <a:extLst>
              <a:ext uri="{FF2B5EF4-FFF2-40B4-BE49-F238E27FC236}">
                <a16:creationId xmlns:a16="http://schemas.microsoft.com/office/drawing/2014/main" id="{5F14E4A6-5C5E-CAE0-BF3D-3DF3145069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808" name="Google Shape;808;p18">
            <a:extLst>
              <a:ext uri="{FF2B5EF4-FFF2-40B4-BE49-F238E27FC236}">
                <a16:creationId xmlns:a16="http://schemas.microsoft.com/office/drawing/2014/main" id="{DA87042C-3032-F32D-2149-B7D737365A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18">
            <a:extLst>
              <a:ext uri="{FF2B5EF4-FFF2-40B4-BE49-F238E27FC236}">
                <a16:creationId xmlns:a16="http://schemas.microsoft.com/office/drawing/2014/main" id="{560A5946-759A-E6DF-3042-29A471EA8507}"/>
              </a:ext>
            </a:extLst>
          </p:cNvPr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18">
            <a:extLst>
              <a:ext uri="{FF2B5EF4-FFF2-40B4-BE49-F238E27FC236}">
                <a16:creationId xmlns:a16="http://schemas.microsoft.com/office/drawing/2014/main" id="{7B43EB4D-1E9C-7F9D-9B11-404D62B2CE69}"/>
              </a:ext>
            </a:extLst>
          </p:cNvPr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18">
            <a:extLst>
              <a:ext uri="{FF2B5EF4-FFF2-40B4-BE49-F238E27FC236}">
                <a16:creationId xmlns:a16="http://schemas.microsoft.com/office/drawing/2014/main" id="{86F85D46-FE21-DB41-D6C7-1B27E7F0301B}"/>
              </a:ext>
            </a:extLst>
          </p:cNvPr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18">
            <a:extLst>
              <a:ext uri="{FF2B5EF4-FFF2-40B4-BE49-F238E27FC236}">
                <a16:creationId xmlns:a16="http://schemas.microsoft.com/office/drawing/2014/main" id="{23C8630C-6250-1AFF-C293-5FD2FE22CDDE}"/>
              </a:ext>
            </a:extLst>
          </p:cNvPr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3" name="Google Shape;813;p18">
            <a:extLst>
              <a:ext uri="{FF2B5EF4-FFF2-40B4-BE49-F238E27FC236}">
                <a16:creationId xmlns:a16="http://schemas.microsoft.com/office/drawing/2014/main" id="{979F57B2-7A0A-40CB-2D4B-57BF4CEAF52B}"/>
              </a:ext>
            </a:extLst>
          </p:cNvPr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4" name="Google Shape;814;p18">
            <a:extLst>
              <a:ext uri="{FF2B5EF4-FFF2-40B4-BE49-F238E27FC236}">
                <a16:creationId xmlns:a16="http://schemas.microsoft.com/office/drawing/2014/main" id="{F2D1F488-FDC3-F54B-B66E-13C450811004}"/>
              </a:ext>
            </a:extLst>
          </p:cNvPr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5" name="Google Shape;815;p18">
            <a:extLst>
              <a:ext uri="{FF2B5EF4-FFF2-40B4-BE49-F238E27FC236}">
                <a16:creationId xmlns:a16="http://schemas.microsoft.com/office/drawing/2014/main" id="{57366784-1568-6D93-8F30-71EE5D2A294E}"/>
              </a:ext>
            </a:extLst>
          </p:cNvPr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18">
            <a:extLst>
              <a:ext uri="{FF2B5EF4-FFF2-40B4-BE49-F238E27FC236}">
                <a16:creationId xmlns:a16="http://schemas.microsoft.com/office/drawing/2014/main" id="{2FFC33A6-E0CA-4462-AED3-4D703E10856C}"/>
              </a:ext>
            </a:extLst>
          </p:cNvPr>
          <p:cNvSpPr txBox="1"/>
          <p:nvPr/>
        </p:nvSpPr>
        <p:spPr>
          <a:xfrm>
            <a:off x="42839" y="5109960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_gross_spend}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18">
            <a:extLst>
              <a:ext uri="{FF2B5EF4-FFF2-40B4-BE49-F238E27FC236}">
                <a16:creationId xmlns:a16="http://schemas.microsoft.com/office/drawing/2014/main" id="{ABBEFB02-8408-DDFB-A1C3-06C7B3CD3044}"/>
              </a:ext>
            </a:extLst>
          </p:cNvPr>
          <p:cNvSpPr txBox="1"/>
          <p:nvPr/>
        </p:nvSpPr>
        <p:spPr>
          <a:xfrm>
            <a:off x="1933657" y="5104195"/>
            <a:ext cx="1762644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_impressions}</a:t>
            </a:r>
          </a:p>
        </p:txBody>
      </p:sp>
      <p:sp>
        <p:nvSpPr>
          <p:cNvPr id="818" name="Google Shape;818;p18">
            <a:extLst>
              <a:ext uri="{FF2B5EF4-FFF2-40B4-BE49-F238E27FC236}">
                <a16:creationId xmlns:a16="http://schemas.microsoft.com/office/drawing/2014/main" id="{97A249A6-1847-B73C-EF9A-DCB2D185C2EA}"/>
              </a:ext>
            </a:extLst>
          </p:cNvPr>
          <p:cNvSpPr txBox="1"/>
          <p:nvPr/>
        </p:nvSpPr>
        <p:spPr>
          <a:xfrm>
            <a:off x="3783913" y="511236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{tik_reach}</a:t>
            </a:r>
            <a:endParaRPr lang="en-US"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9" name="Google Shape;819;p18">
            <a:extLst>
              <a:ext uri="{FF2B5EF4-FFF2-40B4-BE49-F238E27FC236}">
                <a16:creationId xmlns:a16="http://schemas.microsoft.com/office/drawing/2014/main" id="{58EFD26E-8D8B-D7F4-8BCF-6BDDF3CC6AA0}"/>
              </a:ext>
            </a:extLst>
          </p:cNvPr>
          <p:cNvSpPr txBox="1"/>
          <p:nvPr/>
        </p:nvSpPr>
        <p:spPr>
          <a:xfrm>
            <a:off x="5473377" y="5104195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_freq}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0" name="Google Shape;820;p18">
            <a:extLst>
              <a:ext uri="{FF2B5EF4-FFF2-40B4-BE49-F238E27FC236}">
                <a16:creationId xmlns:a16="http://schemas.microsoft.com/office/drawing/2014/main" id="{DE448BC6-5F3F-E53D-58A1-C81002EE5CCD}"/>
              </a:ext>
            </a:extLst>
          </p:cNvPr>
          <p:cNvSpPr txBox="1"/>
          <p:nvPr/>
        </p:nvSpPr>
        <p:spPr>
          <a:xfrm>
            <a:off x="10328562" y="5112997"/>
            <a:ext cx="1700877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£{tik_net_cpm}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>
            <a:extLst>
              <a:ext uri="{FF2B5EF4-FFF2-40B4-BE49-F238E27FC236}">
                <a16:creationId xmlns:a16="http://schemas.microsoft.com/office/drawing/2014/main" id="{B2A85A09-EF03-43A8-E425-E8C639881C27}"/>
              </a:ext>
            </a:extLst>
          </p:cNvPr>
          <p:cNvSpPr txBox="1"/>
          <p:nvPr/>
        </p:nvSpPr>
        <p:spPr>
          <a:xfrm>
            <a:off x="2989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18">
            <a:extLst>
              <a:ext uri="{FF2B5EF4-FFF2-40B4-BE49-F238E27FC236}">
                <a16:creationId xmlns:a16="http://schemas.microsoft.com/office/drawing/2014/main" id="{B2B2B9F4-DA8D-DC87-8CCB-2989B2AF6DDF}"/>
              </a:ext>
            </a:extLst>
          </p:cNvPr>
          <p:cNvSpPr txBox="1"/>
          <p:nvPr/>
        </p:nvSpPr>
        <p:spPr>
          <a:xfrm>
            <a:off x="2041413" y="589165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Clr>
                <a:srgbClr val="100228"/>
              </a:buClr>
              <a:buSzPts val="2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18">
            <a:extLst>
              <a:ext uri="{FF2B5EF4-FFF2-40B4-BE49-F238E27FC236}">
                <a16:creationId xmlns:a16="http://schemas.microsoft.com/office/drawing/2014/main" id="{16B729A6-6839-00A0-D4B4-53825AF1A2BA}"/>
              </a:ext>
            </a:extLst>
          </p:cNvPr>
          <p:cNvSpPr txBox="1"/>
          <p:nvPr/>
        </p:nvSpPr>
        <p:spPr>
          <a:xfrm>
            <a:off x="378391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18">
            <a:extLst>
              <a:ext uri="{FF2B5EF4-FFF2-40B4-BE49-F238E27FC236}">
                <a16:creationId xmlns:a16="http://schemas.microsoft.com/office/drawing/2014/main" id="{8F6B8ED3-0187-9B94-3153-66EFEC5AE92E}"/>
              </a:ext>
            </a:extLst>
          </p:cNvPr>
          <p:cNvSpPr txBox="1"/>
          <p:nvPr/>
        </p:nvSpPr>
        <p:spPr>
          <a:xfrm>
            <a:off x="8804563" y="5891656"/>
            <a:ext cx="1495738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_est_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}%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18">
            <a:extLst>
              <a:ext uri="{FF2B5EF4-FFF2-40B4-BE49-F238E27FC236}">
                <a16:creationId xmlns:a16="http://schemas.microsoft.com/office/drawing/2014/main" id="{F20AD2E5-22F1-9338-A7DB-3EDEC5A28C81}"/>
              </a:ext>
            </a:extLst>
          </p:cNvPr>
          <p:cNvSpPr txBox="1"/>
          <p:nvPr/>
        </p:nvSpPr>
        <p:spPr>
          <a:xfrm>
            <a:off x="10328563" y="5891656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18">
            <a:extLst>
              <a:ext uri="{FF2B5EF4-FFF2-40B4-BE49-F238E27FC236}">
                <a16:creationId xmlns:a16="http://schemas.microsoft.com/office/drawing/2014/main" id="{B274F692-5F5F-1406-DDC0-BE027BD43F3E}"/>
              </a:ext>
            </a:extLst>
          </p:cNvPr>
          <p:cNvSpPr txBox="1"/>
          <p:nvPr/>
        </p:nvSpPr>
        <p:spPr>
          <a:xfrm>
            <a:off x="7181301" y="590710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{tik_est_clicks}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18">
            <a:extLst>
              <a:ext uri="{FF2B5EF4-FFF2-40B4-BE49-F238E27FC236}">
                <a16:creationId xmlns:a16="http://schemas.microsoft.com/office/drawing/2014/main" id="{79E133A4-D91B-6896-04B3-C67BE25C8620}"/>
              </a:ext>
            </a:extLst>
          </p:cNvPr>
          <p:cNvSpPr txBox="1"/>
          <p:nvPr/>
        </p:nvSpPr>
        <p:spPr>
          <a:xfrm>
            <a:off x="5558013" y="589165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lang="en-US" sz="1200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{tik_est_freq}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18">
            <a:extLst>
              <a:ext uri="{FF2B5EF4-FFF2-40B4-BE49-F238E27FC236}">
                <a16:creationId xmlns:a16="http://schemas.microsoft.com/office/drawing/2014/main" id="{3D5292EE-5908-1176-060F-932F2A389564}"/>
              </a:ext>
            </a:extLst>
          </p:cNvPr>
          <p:cNvSpPr txBox="1"/>
          <p:nvPr/>
        </p:nvSpPr>
        <p:spPr>
          <a:xfrm>
            <a:off x="7238601" y="5102576"/>
            <a:ext cx="13410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{tik_clicks}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18">
            <a:extLst>
              <a:ext uri="{FF2B5EF4-FFF2-40B4-BE49-F238E27FC236}">
                <a16:creationId xmlns:a16="http://schemas.microsoft.com/office/drawing/2014/main" id="{F3AB315F-4BD5-F068-6CD4-5384DDCBA38A}"/>
              </a:ext>
            </a:extLst>
          </p:cNvPr>
          <p:cNvSpPr txBox="1"/>
          <p:nvPr/>
        </p:nvSpPr>
        <p:spPr>
          <a:xfrm>
            <a:off x="8636901" y="5102576"/>
            <a:ext cx="1811238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sz="2200" dirty="0"/>
              <a:t>{tik_ctr}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0" name="Google Shape;830;p18">
            <a:extLst>
              <a:ext uri="{FF2B5EF4-FFF2-40B4-BE49-F238E27FC236}">
                <a16:creationId xmlns:a16="http://schemas.microsoft.com/office/drawing/2014/main" id="{148E50AB-13B7-380C-00DD-B8FFC766C250}"/>
              </a:ext>
            </a:extLst>
          </p:cNvPr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>
            <a:extLst>
              <a:ext uri="{FF2B5EF4-FFF2-40B4-BE49-F238E27FC236}">
                <a16:creationId xmlns:a16="http://schemas.microsoft.com/office/drawing/2014/main" id="{02862CF4-795C-0817-7065-465930337096}"/>
              </a:ext>
            </a:extLst>
          </p:cNvPr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>
            <a:extLst>
              <a:ext uri="{FF2B5EF4-FFF2-40B4-BE49-F238E27FC236}">
                <a16:creationId xmlns:a16="http://schemas.microsoft.com/office/drawing/2014/main" id="{25825418-E0DE-E05F-4DED-922C63A262AC}"/>
              </a:ext>
            </a:extLst>
          </p:cNvPr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8">
            <a:extLst>
              <a:ext uri="{FF2B5EF4-FFF2-40B4-BE49-F238E27FC236}">
                <a16:creationId xmlns:a16="http://schemas.microsoft.com/office/drawing/2014/main" id="{47A07743-34AD-4FE9-70D6-9ECE8C6CA972}"/>
              </a:ext>
            </a:extLst>
          </p:cNvPr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8">
            <a:extLst>
              <a:ext uri="{FF2B5EF4-FFF2-40B4-BE49-F238E27FC236}">
                <a16:creationId xmlns:a16="http://schemas.microsoft.com/office/drawing/2014/main" id="{04E7B16E-087A-C7B1-6C82-E01A6D5BA88F}"/>
              </a:ext>
            </a:extLst>
          </p:cNvPr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8">
            <a:extLst>
              <a:ext uri="{FF2B5EF4-FFF2-40B4-BE49-F238E27FC236}">
                <a16:creationId xmlns:a16="http://schemas.microsoft.com/office/drawing/2014/main" id="{034389A4-05D2-D8A8-939A-9AAC8941EC32}"/>
              </a:ext>
            </a:extLst>
          </p:cNvPr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8">
            <a:extLst>
              <a:ext uri="{FF2B5EF4-FFF2-40B4-BE49-F238E27FC236}">
                <a16:creationId xmlns:a16="http://schemas.microsoft.com/office/drawing/2014/main" id="{0FF60C3A-3744-533B-34F0-562F69E6E22D}"/>
              </a:ext>
            </a:extLst>
          </p:cNvPr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18">
            <a:extLst>
              <a:ext uri="{FF2B5EF4-FFF2-40B4-BE49-F238E27FC236}">
                <a16:creationId xmlns:a16="http://schemas.microsoft.com/office/drawing/2014/main" id="{3CD3088A-C61E-A831-7A71-BC3A97308D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p18">
            <a:extLst>
              <a:ext uri="{FF2B5EF4-FFF2-40B4-BE49-F238E27FC236}">
                <a16:creationId xmlns:a16="http://schemas.microsoft.com/office/drawing/2014/main" id="{4EB3524F-C26F-0406-90E4-8559288E25B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9" name="Google Shape;839;p18">
            <a:extLst>
              <a:ext uri="{FF2B5EF4-FFF2-40B4-BE49-F238E27FC236}">
                <a16:creationId xmlns:a16="http://schemas.microsoft.com/office/drawing/2014/main" id="{0F9D2A50-9B5B-A3AD-D817-579F739FAAF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40" name="Google Shape;840;p18">
            <a:extLst>
              <a:ext uri="{FF2B5EF4-FFF2-40B4-BE49-F238E27FC236}">
                <a16:creationId xmlns:a16="http://schemas.microsoft.com/office/drawing/2014/main" id="{3FFB1178-3080-A1AA-831A-1FFF99F1147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p18">
            <a:extLst>
              <a:ext uri="{FF2B5EF4-FFF2-40B4-BE49-F238E27FC236}">
                <a16:creationId xmlns:a16="http://schemas.microsoft.com/office/drawing/2014/main" id="{12A01B6B-906D-D87F-AD90-5C2543CB5F2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18">
            <a:extLst>
              <a:ext uri="{FF2B5EF4-FFF2-40B4-BE49-F238E27FC236}">
                <a16:creationId xmlns:a16="http://schemas.microsoft.com/office/drawing/2014/main" id="{C7827E56-BAE4-E4B7-049F-F1299E9AA04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43" name="Google Shape;843;p18">
            <a:extLst>
              <a:ext uri="{FF2B5EF4-FFF2-40B4-BE49-F238E27FC236}">
                <a16:creationId xmlns:a16="http://schemas.microsoft.com/office/drawing/2014/main" id="{7CD058F5-2649-1916-B36B-46F77248A79A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3150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>
          <a:extLst>
            <a:ext uri="{FF2B5EF4-FFF2-40B4-BE49-F238E27FC236}">
              <a16:creationId xmlns:a16="http://schemas.microsoft.com/office/drawing/2014/main" id="{418239A1-090E-A92F-A097-8AF7F0C6D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39cd19c857_1_323">
            <a:extLst>
              <a:ext uri="{FF2B5EF4-FFF2-40B4-BE49-F238E27FC236}">
                <a16:creationId xmlns:a16="http://schemas.microsoft.com/office/drawing/2014/main" id="{CB52E53C-796A-EF02-ADF6-6168A76E5A45}"/>
              </a:ext>
            </a:extLst>
          </p:cNvPr>
          <p:cNvSpPr txBox="1"/>
          <p:nvPr/>
        </p:nvSpPr>
        <p:spPr>
          <a:xfrm>
            <a:off x="3968338" y="2938024"/>
            <a:ext cx="7233600" cy="353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Strongest sales performance from brand-loyal customers</a:t>
            </a: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{tik_two_audiences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_with_strongest_roas_commentary}</a:t>
            </a:r>
            <a:endParaRPr sz="13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Broad category and competitor audiences helped drive awareness </a:t>
            </a:r>
            <a:endParaRPr sz="13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{tik_intuitive_comme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ntary_about_audience_performance_commentary}</a:t>
            </a: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g339cd19c857_1_323">
            <a:extLst>
              <a:ext uri="{FF2B5EF4-FFF2-40B4-BE49-F238E27FC236}">
                <a16:creationId xmlns:a16="http://schemas.microsoft.com/office/drawing/2014/main" id="{3FFD5450-F890-A8B4-DC0E-C0285D5ACE2F}"/>
              </a:ext>
            </a:extLst>
          </p:cNvPr>
          <p:cNvGrpSpPr/>
          <p:nvPr/>
        </p:nvGrpSpPr>
        <p:grpSpPr>
          <a:xfrm>
            <a:off x="1181761" y="3332055"/>
            <a:ext cx="2044878" cy="2023564"/>
            <a:chOff x="5504000" y="3563425"/>
            <a:chExt cx="365725" cy="361900"/>
          </a:xfrm>
        </p:grpSpPr>
        <p:sp>
          <p:nvSpPr>
            <p:cNvPr id="725" name="Google Shape;725;g339cd19c857_1_323">
              <a:extLst>
                <a:ext uri="{FF2B5EF4-FFF2-40B4-BE49-F238E27FC236}">
                  <a16:creationId xmlns:a16="http://schemas.microsoft.com/office/drawing/2014/main" id="{2196531C-09AA-715B-C103-6B75A471F26A}"/>
                </a:ext>
              </a:extLst>
            </p:cNvPr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g339cd19c857_1_323">
              <a:extLst>
                <a:ext uri="{FF2B5EF4-FFF2-40B4-BE49-F238E27FC236}">
                  <a16:creationId xmlns:a16="http://schemas.microsoft.com/office/drawing/2014/main" id="{3A20F506-3F49-B64A-9278-0C576B813E5A}"/>
                </a:ext>
              </a:extLst>
            </p:cNvPr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g339cd19c857_1_323">
              <a:extLst>
                <a:ext uri="{FF2B5EF4-FFF2-40B4-BE49-F238E27FC236}">
                  <a16:creationId xmlns:a16="http://schemas.microsoft.com/office/drawing/2014/main" id="{0DA2F199-A61C-E975-B40B-99C3036C2908}"/>
                </a:ext>
              </a:extLst>
            </p:cNvPr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g339cd19c857_1_323">
              <a:extLst>
                <a:ext uri="{FF2B5EF4-FFF2-40B4-BE49-F238E27FC236}">
                  <a16:creationId xmlns:a16="http://schemas.microsoft.com/office/drawing/2014/main" id="{D42F8AEC-38FA-531F-C9D4-80C36F48E134}"/>
                </a:ext>
              </a:extLst>
            </p:cNvPr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g339cd19c857_1_323">
              <a:extLst>
                <a:ext uri="{FF2B5EF4-FFF2-40B4-BE49-F238E27FC236}">
                  <a16:creationId xmlns:a16="http://schemas.microsoft.com/office/drawing/2014/main" id="{8B0F39E6-AACB-EA69-E2ED-97156A0831C4}"/>
                </a:ext>
              </a:extLst>
            </p:cNvPr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g339cd19c857_1_323">
              <a:extLst>
                <a:ext uri="{FF2B5EF4-FFF2-40B4-BE49-F238E27FC236}">
                  <a16:creationId xmlns:a16="http://schemas.microsoft.com/office/drawing/2014/main" id="{3C709241-58DE-2ABE-3E4E-A254B39D42D5}"/>
                </a:ext>
              </a:extLst>
            </p:cNvPr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1" name="Google Shape;731;g339cd19c857_1_323">
            <a:extLst>
              <a:ext uri="{FF2B5EF4-FFF2-40B4-BE49-F238E27FC236}">
                <a16:creationId xmlns:a16="http://schemas.microsoft.com/office/drawing/2014/main" id="{C89B707E-0DCB-F045-A554-C8C75FA893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925" y="932125"/>
            <a:ext cx="103836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600" dirty="0"/>
              <a:t>{tik_audience_performance_commentary}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2178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B2AB843C-52D4-380A-E875-8363EAA0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96EC368E-A286-E5CD-3B30-4BC8AA843282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withstrongestroas_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imp_t}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_spend_t}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_freq_t}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516D9262-D926-2155-22DD-9638D8F15564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{adwithstrongestroas_ctr_t}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82463348-63F6-5FD9-D829-AFB296D59BFB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{tik_ad_with_strongest_roas_and_impressions_commentary}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85FBDAA9-DFC0-B922-345A-736A9CA18695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with_strongest_roas_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2AD73459-9C53-0F7E-11AF-1F253C064C1A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{tik_ad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_with_strongest_roas_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09651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CE2D0D98-E204-E554-92D2-1451A1E8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FF2E6E8F-F395-380B-96E6-A9DB7C37A43E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withweakestroas_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imp_t}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_spend_t}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_freq_t}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32A7E104-E1EA-270F-6463-E0D36C36A66F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_clicks_t}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{adwithweakestroas_ctr_t}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DEC60D8E-E289-AF5E-BB05-38735AF15946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{tik_ad_with_weakest_roas_and_impressions_commentary}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04B4C73B-D676-AC00-B1C1-1105C47FC845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tik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with_weakest_roas_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70E17ED2-1066-3459-FC08-A88D55EBEA69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{tik_ad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_with_weakest_roas_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27177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>
          <a:extLst>
            <a:ext uri="{FF2B5EF4-FFF2-40B4-BE49-F238E27FC236}">
              <a16:creationId xmlns:a16="http://schemas.microsoft.com/office/drawing/2014/main" id="{94FD6000-1F60-7B42-1225-7FE3D7090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>
            <a:extLst>
              <a:ext uri="{FF2B5EF4-FFF2-40B4-BE49-F238E27FC236}">
                <a16:creationId xmlns:a16="http://schemas.microsoft.com/office/drawing/2014/main" id="{26F33BB0-52E5-2879-834E-8070E6FB95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866" name="Google Shape;866;g339cd19c857_1_791">
            <a:extLst>
              <a:ext uri="{FF2B5EF4-FFF2-40B4-BE49-F238E27FC236}">
                <a16:creationId xmlns:a16="http://schemas.microsoft.com/office/drawing/2014/main" id="{222EBD8E-1F5E-E64E-4821-2935ADFBD0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>
            <a:extLst>
              <a:ext uri="{FF2B5EF4-FFF2-40B4-BE49-F238E27FC236}">
                <a16:creationId xmlns:a16="http://schemas.microsoft.com/office/drawing/2014/main" id="{439F5F5A-0745-149F-D9B3-86B606F8C3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8752912"/>
              </p:ext>
            </p:extLst>
          </p:nvPr>
        </p:nvGraphicFramePr>
        <p:xfrm>
          <a:off x="229154" y="1050556"/>
          <a:ext cx="11621225" cy="54084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35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2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2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77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05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18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089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991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37567">
                  <a:extLst>
                    <a:ext uri="{9D8B030D-6E8A-4147-A177-3AD203B41FA5}">
                      <a16:colId xmlns:a16="http://schemas.microsoft.com/office/drawing/2014/main" val="823453601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Audience Segment</a:t>
                      </a: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Net Spend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Impressions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Reach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Frequency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Clicks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CTR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Net CPM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</a:t>
                      </a:r>
                    </a:p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Revenue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{t_imp_1}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{t_reach_2}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{t_reach_3}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{t_roi_6}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{t_netspend_11}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{t_imp_11}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{t_reach_11}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{t_roi_11}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{t_roas_11}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 dirty="0"/>
                        <a:t>{t_aud_12}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{t_netspend_12}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{t_imp_12}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{t_reach_12}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{t_roi_12}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{t_roas_12}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6A67AB2-8E64-556C-04B4-52C3B9FD0442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164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>
          <a:extLst>
            <a:ext uri="{FF2B5EF4-FFF2-40B4-BE49-F238E27FC236}">
              <a16:creationId xmlns:a16="http://schemas.microsoft.com/office/drawing/2014/main" id="{0065B5B6-CAA7-7CAE-AAD9-52DD8097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>
            <a:extLst>
              <a:ext uri="{FF2B5EF4-FFF2-40B4-BE49-F238E27FC236}">
                <a16:creationId xmlns:a16="http://schemas.microsoft.com/office/drawing/2014/main" id="{22D941D5-C865-B3DA-E93C-3881420B58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TikTok campaign drive?</a:t>
            </a:r>
            <a:endParaRPr sz="32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>
            <a:extLst>
              <a:ext uri="{FF2B5EF4-FFF2-40B4-BE49-F238E27FC236}">
                <a16:creationId xmlns:a16="http://schemas.microsoft.com/office/drawing/2014/main" id="{C3F7BA1E-ABFB-6EF0-CE01-61E3C9D5F7D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>
            <a:extLst>
              <a:ext uri="{FF2B5EF4-FFF2-40B4-BE49-F238E27FC236}">
                <a16:creationId xmlns:a16="http://schemas.microsoft.com/office/drawing/2014/main" id="{BAFE0A93-76CC-E494-DF93-94D0B485A4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graphicFrame>
        <p:nvGraphicFramePr>
          <p:cNvPr id="851" name="Google Shape;851;g32d8533fe21_0_44">
            <a:extLst>
              <a:ext uri="{FF2B5EF4-FFF2-40B4-BE49-F238E27FC236}">
                <a16:creationId xmlns:a16="http://schemas.microsoft.com/office/drawing/2014/main" id="{5736BECC-059A-52D6-F051-4318A5458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17167061"/>
              </p:ext>
            </p:extLst>
          </p:nvPr>
        </p:nvGraphicFramePr>
        <p:xfrm>
          <a:off x="2304605" y="1954862"/>
          <a:ext cx="7582800" cy="426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{tik_brand_revenue}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{tik_brand_roas}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{tik_brand_instore_revenue}</a:t>
                      </a:r>
                    </a:p>
                    <a:p>
                      <a:endParaRPr sz="1000" dirty="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{tik_brand_online_perc_sales}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{tik_brand_instore_perc_sales}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2895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4313613B-8A02-7355-67D1-53D89EEBE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>
            <a:extLst>
              <a:ext uri="{FF2B5EF4-FFF2-40B4-BE49-F238E27FC236}">
                <a16:creationId xmlns:a16="http://schemas.microsoft.com/office/drawing/2014/main" id="{F23CF87E-CD5C-9174-26E1-5AD4C977CEC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>
            <a:extLst>
              <a:ext uri="{FF2B5EF4-FFF2-40B4-BE49-F238E27FC236}">
                <a16:creationId xmlns:a16="http://schemas.microsoft.com/office/drawing/2014/main" id="{49A69119-4313-022B-2A41-C1E7041A90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aphicFrame>
        <p:nvGraphicFramePr>
          <p:cNvPr id="858" name="Google Shape;858;g32d8533fe21_0_51">
            <a:extLst>
              <a:ext uri="{FF2B5EF4-FFF2-40B4-BE49-F238E27FC236}">
                <a16:creationId xmlns:a16="http://schemas.microsoft.com/office/drawing/2014/main" id="{C46D36C4-B4AA-3377-B05F-36A4961C88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3651514"/>
              </p:ext>
            </p:extLst>
          </p:nvPr>
        </p:nvGraphicFramePr>
        <p:xfrm>
          <a:off x="2304605" y="1954862"/>
          <a:ext cx="7582800" cy="42569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 FSKUs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{tik_fsku_revenue}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{tik_fsku_roas}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{tik_fsku_roi}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FSKU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{tik_fsku_online_revenue}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{tik_fsku_instore_revenue}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{tik_online_perc_sales_meta}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{tik_instore_perc_sales_meta</a:t>
                      </a:r>
                    </a:p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60" name="Google Shape;860;g32d8533fe21_0_51">
            <a:extLst>
              <a:ext uri="{FF2B5EF4-FFF2-40B4-BE49-F238E27FC236}">
                <a16:creationId xmlns:a16="http://schemas.microsoft.com/office/drawing/2014/main" id="{1C85FF64-9B69-6A6B-5DF6-909E7D8BCD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How many 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cs typeface="Poppins" pitchFamily="2" charset="77"/>
              </a:rPr>
              <a:t>Featured product 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sales did our </a:t>
            </a:r>
            <a:r>
              <a:rPr lang="en-US" sz="3200" dirty="0" err="1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Tiktok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ea typeface="Poppins"/>
                <a:cs typeface="Poppins" pitchFamily="2" charset="77"/>
                <a:sym typeface="Poppins"/>
              </a:rPr>
              <a:t> campaign drive?</a:t>
            </a:r>
            <a:endParaRPr sz="3200" dirty="0">
              <a:solidFill>
                <a:srgbClr val="12121A"/>
              </a:solidFill>
              <a:latin typeface="Poppins" pitchFamily="2" charset="77"/>
              <a:ea typeface="Poppins"/>
              <a:cs typeface="Poppins" pitchFamily="2" charset="77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4597139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>
          <a:extLst>
            <a:ext uri="{FF2B5EF4-FFF2-40B4-BE49-F238E27FC236}">
              <a16:creationId xmlns:a16="http://schemas.microsoft.com/office/drawing/2014/main" id="{89A2B731-BA2F-2BB1-64F1-BB7BEF7BF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39d57e8f9a_0_272">
            <a:extLst>
              <a:ext uri="{FF2B5EF4-FFF2-40B4-BE49-F238E27FC236}">
                <a16:creationId xmlns:a16="http://schemas.microsoft.com/office/drawing/2014/main" id="{9EFD77DB-9AE1-78FD-952E-35588BD07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6500" y="3736925"/>
            <a:ext cx="6594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/>
              <a:t>Post-campaign Report: Pinterest</a:t>
            </a:r>
            <a:endParaRPr dirty="0"/>
          </a:p>
        </p:txBody>
      </p:sp>
      <p:sp>
        <p:nvSpPr>
          <p:cNvPr id="672" name="Google Shape;672;g339d57e8f9a_0_272">
            <a:extLst>
              <a:ext uri="{FF2B5EF4-FFF2-40B4-BE49-F238E27FC236}">
                <a16:creationId xmlns:a16="http://schemas.microsoft.com/office/drawing/2014/main" id="{EA67D9C4-6122-B05E-3DB4-C7E619FEB36C}"/>
              </a:ext>
            </a:extLst>
          </p:cNvPr>
          <p:cNvSpPr txBox="1"/>
          <p:nvPr/>
        </p:nvSpPr>
        <p:spPr>
          <a:xfrm>
            <a:off x="766762" y="620713"/>
            <a:ext cx="7800300" cy="3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The following analysis is based on </a:t>
            </a:r>
            <a:r>
              <a:rPr lang="en-US" sz="2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exposed </a:t>
            </a:r>
            <a:r>
              <a:rPr lang="en-US" sz="1800" b="0" i="0" u="none" strike="noStrike" cap="none">
                <a:solidFill>
                  <a:schemeClr val="lt1"/>
                </a:solidFill>
                <a:latin typeface="Montserrat ExtraLight"/>
                <a:ea typeface="Montserrat ExtraLight"/>
                <a:cs typeface="Montserrat ExtraLight"/>
                <a:sym typeface="Montserrat ExtraLight"/>
              </a:rPr>
              <a:t>audience.</a:t>
            </a:r>
            <a:b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2916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2d8533fe21_0_0"/>
          <p:cNvSpPr/>
          <p:nvPr/>
        </p:nvSpPr>
        <p:spPr>
          <a:xfrm>
            <a:off x="0" y="0"/>
            <a:ext cx="12192000" cy="4436100"/>
          </a:xfrm>
          <a:prstGeom prst="rect">
            <a:avLst/>
          </a:prstGeom>
          <a:solidFill>
            <a:srgbClr val="12121A"/>
          </a:solidFill>
          <a:ln w="25400" cap="flat" cmpd="sng">
            <a:solidFill>
              <a:srgbClr val="17164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79" name="Google Shape;879;g32d8533fe21_0_0" descr="US private equity closes in on Boots: Bosses set midnight deadline for  first bids | This is Money"/>
          <p:cNvPicPr preferRelativeResize="0"/>
          <p:nvPr/>
        </p:nvPicPr>
        <p:blipFill rotWithShape="1">
          <a:blip r:embed="rId3">
            <a:alphaModFix amt="35000"/>
          </a:blip>
          <a:srcRect b="39422"/>
          <a:stretch/>
        </p:blipFill>
        <p:spPr>
          <a:xfrm>
            <a:off x="0" y="0"/>
            <a:ext cx="12192001" cy="4436198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g32d8533fe21_0_0"/>
          <p:cNvSpPr txBox="1">
            <a:spLocks noGrp="1"/>
          </p:cNvSpPr>
          <p:nvPr>
            <p:ph type="title"/>
          </p:nvPr>
        </p:nvSpPr>
        <p:spPr>
          <a:xfrm>
            <a:off x="766777" y="614500"/>
            <a:ext cx="9886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Pinterest Campaign Summary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1" name="Google Shape;881;g32d8533fe21_0_0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3325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882" name="Google Shape;882;g32d8533fe21_0_0"/>
          <p:cNvSpPr txBox="1">
            <a:spLocks noGrp="1"/>
          </p:cNvSpPr>
          <p:nvPr>
            <p:ph type="body" idx="2"/>
          </p:nvPr>
        </p:nvSpPr>
        <p:spPr>
          <a:xfrm>
            <a:off x="766775" y="1321125"/>
            <a:ext cx="10764900" cy="2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</a:pPr>
            <a:r>
              <a:rPr lang="en-US" sz="1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Delivery Performance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3" name="Google Shape;883;g32d8533fe21_0_0"/>
          <p:cNvSpPr txBox="1"/>
          <p:nvPr/>
        </p:nvSpPr>
        <p:spPr>
          <a:xfrm>
            <a:off x="298938" y="3158656"/>
            <a:ext cx="1398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GROSS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SPEND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4" name="Google Shape;884;g32d8533fe21_0_0"/>
          <p:cNvSpPr txBox="1"/>
          <p:nvPr/>
        </p:nvSpPr>
        <p:spPr>
          <a:xfrm>
            <a:off x="1931400" y="3158656"/>
            <a:ext cx="1565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5" name="Google Shape;885;g32d8533fe21_0_0"/>
          <p:cNvSpPr txBox="1"/>
          <p:nvPr/>
        </p:nvSpPr>
        <p:spPr>
          <a:xfrm>
            <a:off x="3746713" y="3158656"/>
            <a:ext cx="145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UNIQUE REACH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6" name="Google Shape;886;g32d8533fe21_0_0"/>
          <p:cNvSpPr txBox="1"/>
          <p:nvPr/>
        </p:nvSpPr>
        <p:spPr>
          <a:xfrm>
            <a:off x="54231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FREQUENCY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7" name="Google Shape;887;g32d8533fe21_0_0"/>
          <p:cNvSpPr txBox="1"/>
          <p:nvPr/>
        </p:nvSpPr>
        <p:spPr>
          <a:xfrm>
            <a:off x="70995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CLICKS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8" name="Google Shape;888;g32d8533fe21_0_0"/>
          <p:cNvSpPr txBox="1"/>
          <p:nvPr/>
        </p:nvSpPr>
        <p:spPr>
          <a:xfrm>
            <a:off x="8775913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CTR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9" name="Google Shape;889;g32d8533fe21_0_0"/>
          <p:cNvSpPr txBox="1"/>
          <p:nvPr/>
        </p:nvSpPr>
        <p:spPr>
          <a:xfrm>
            <a:off x="10300301" y="3158656"/>
            <a:ext cx="1455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Net CPM</a:t>
            </a:r>
            <a:endParaRPr sz="15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g32d8533fe21_0_0"/>
          <p:cNvSpPr txBox="1"/>
          <p:nvPr/>
        </p:nvSpPr>
        <p:spPr>
          <a:xfrm>
            <a:off x="90717" y="5076258"/>
            <a:ext cx="1882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£{pin_gross_spend}</a:t>
            </a:r>
          </a:p>
        </p:txBody>
      </p:sp>
      <p:sp>
        <p:nvSpPr>
          <p:cNvPr id="891" name="Google Shape;891;g32d8533fe21_0_0"/>
          <p:cNvSpPr txBox="1"/>
          <p:nvPr/>
        </p:nvSpPr>
        <p:spPr>
          <a:xfrm>
            <a:off x="1845103" y="5074427"/>
            <a:ext cx="1670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Clr>
                <a:schemeClr val="dk1"/>
              </a:buClr>
              <a:buSzPts val="2200"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{pin_impressions}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2" name="Google Shape;892;g32d8533fe21_0_0"/>
          <p:cNvSpPr txBox="1"/>
          <p:nvPr/>
        </p:nvSpPr>
        <p:spPr>
          <a:xfrm>
            <a:off x="375526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{pin_reach}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3" name="Google Shape;893;g32d8533fe21_0_0"/>
          <p:cNvSpPr txBox="1"/>
          <p:nvPr/>
        </p:nvSpPr>
        <p:spPr>
          <a:xfrm>
            <a:off x="547927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in_f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req}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4" name="Google Shape;894;g32d8533fe21_0_0"/>
          <p:cNvSpPr txBox="1"/>
          <p:nvPr/>
        </p:nvSpPr>
        <p:spPr>
          <a:xfrm>
            <a:off x="10260163" y="5014470"/>
            <a:ext cx="1455600" cy="963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£{pin_net_</a:t>
            </a:r>
            <a:r>
              <a:rPr lang="en-US" sz="2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cpm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g32d8533fe21_0_0"/>
          <p:cNvSpPr txBox="1"/>
          <p:nvPr/>
        </p:nvSpPr>
        <p:spPr>
          <a:xfrm>
            <a:off x="350890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{pin_est_spend}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6" name="Google Shape;896;g32d8533fe21_0_0"/>
          <p:cNvSpPr txBox="1"/>
          <p:nvPr/>
        </p:nvSpPr>
        <p:spPr>
          <a:xfrm>
            <a:off x="2009813" y="6076306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400" b="0" i="0" u="none" strike="noStrike" cap="none" dirty="0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{pin_est_imp}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228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7" name="Google Shape;897;g32d8533fe21_0_0"/>
          <p:cNvSpPr txBox="1"/>
          <p:nvPr/>
        </p:nvSpPr>
        <p:spPr>
          <a:xfrm>
            <a:off x="3740465" y="607394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{pin_est_reach}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8" name="Google Shape;898;g32d8533fe21_0_0"/>
          <p:cNvSpPr txBox="1"/>
          <p:nvPr/>
        </p:nvSpPr>
        <p:spPr>
          <a:xfrm>
            <a:off x="8658335" y="6147084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Clr>
                <a:schemeClr val="dk1"/>
              </a:buClr>
              <a:buSzPts val="2200"/>
            </a:pPr>
            <a:r>
              <a:rPr sz="1200" dirty="0">
                <a:solidFill>
                  <a:schemeClr val="bg1">
                    <a:lumMod val="65000"/>
                  </a:schemeClr>
                </a:solidFill>
              </a:rPr>
              <a:t>{pin_est_ctr}</a:t>
            </a:r>
            <a:endParaRPr sz="1200" b="0" i="0" u="none" strike="noStrike" cap="none" dirty="0">
              <a:solidFill>
                <a:schemeClr val="bg1">
                  <a:lumMod val="6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9" name="Google Shape;899;g32d8533fe21_0_0"/>
          <p:cNvSpPr txBox="1"/>
          <p:nvPr/>
        </p:nvSpPr>
        <p:spPr>
          <a:xfrm>
            <a:off x="10231882" y="6147084"/>
            <a:ext cx="1398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 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{pin_est_cpm}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0" name="Google Shape;900;g32d8533fe21_0_0"/>
          <p:cNvSpPr txBox="1"/>
          <p:nvPr/>
        </p:nvSpPr>
        <p:spPr>
          <a:xfrm>
            <a:off x="7120303" y="6076306"/>
            <a:ext cx="139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 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{pin_est_clicks}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1" name="Google Shape;901;g32d8533fe21_0_0"/>
          <p:cNvSpPr txBox="1"/>
          <p:nvPr/>
        </p:nvSpPr>
        <p:spPr>
          <a:xfrm>
            <a:off x="5450075" y="6073944"/>
            <a:ext cx="13983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Estimated:</a:t>
            </a:r>
            <a:endParaRPr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buSzPts val="1200"/>
            </a:pPr>
            <a:r>
              <a:rPr lang="en-US" sz="1200" dirty="0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{pin_est_freq}</a:t>
            </a:r>
            <a:endParaRPr lang="en-US" sz="1200" b="0" i="0" u="none" strike="noStrike" cap="none" dirty="0">
              <a:solidFill>
                <a:srgbClr val="99999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2" name="Google Shape;902;g32d8533fe21_0_0"/>
          <p:cNvSpPr txBox="1"/>
          <p:nvPr/>
        </p:nvSpPr>
        <p:spPr>
          <a:xfrm>
            <a:off x="7120303" y="5089654"/>
            <a:ext cx="14556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{pin_clicks}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3" name="Google Shape;903;g32d8533fe21_0_0"/>
          <p:cNvSpPr txBox="1"/>
          <p:nvPr/>
        </p:nvSpPr>
        <p:spPr>
          <a:xfrm>
            <a:off x="8658883" y="5074925"/>
            <a:ext cx="1455600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sz="2200" dirty="0"/>
              <a:t>{pin_ctr}</a:t>
            </a:r>
            <a:endParaRPr sz="22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4" name="Google Shape;904;g32d8533fe21_0_0"/>
          <p:cNvSpPr/>
          <p:nvPr/>
        </p:nvSpPr>
        <p:spPr>
          <a:xfrm>
            <a:off x="480783" y="3926259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g32d8533fe21_0_0"/>
          <p:cNvSpPr/>
          <p:nvPr/>
        </p:nvSpPr>
        <p:spPr>
          <a:xfrm>
            <a:off x="2181324" y="39338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g32d8533fe21_0_0"/>
          <p:cNvSpPr/>
          <p:nvPr/>
        </p:nvSpPr>
        <p:spPr>
          <a:xfrm>
            <a:off x="3936236" y="3933805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g32d8533fe21_0_0"/>
          <p:cNvSpPr/>
          <p:nvPr/>
        </p:nvSpPr>
        <p:spPr>
          <a:xfrm>
            <a:off x="5684410" y="3849344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g32d8533fe21_0_0"/>
          <p:cNvSpPr/>
          <p:nvPr/>
        </p:nvSpPr>
        <p:spPr>
          <a:xfrm>
            <a:off x="7342186" y="3859706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g32d8533fe21_0_0"/>
          <p:cNvSpPr/>
          <p:nvPr/>
        </p:nvSpPr>
        <p:spPr>
          <a:xfrm>
            <a:off x="8965436" y="3834948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g32d8533fe21_0_0"/>
          <p:cNvSpPr/>
          <p:nvPr/>
        </p:nvSpPr>
        <p:spPr>
          <a:xfrm>
            <a:off x="10581799" y="3780713"/>
            <a:ext cx="1076700" cy="1027200"/>
          </a:xfrm>
          <a:prstGeom prst="ellipse">
            <a:avLst/>
          </a:prstGeom>
          <a:solidFill>
            <a:schemeClr val="dk1"/>
          </a:solidFill>
          <a:ln w="19050" cap="flat" cmpd="sng">
            <a:solidFill>
              <a:srgbClr val="088B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1" name="Google Shape;911;g32d8533fe21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9215" y="4003743"/>
            <a:ext cx="687699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g32d8533fe21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8087" y="3933805"/>
            <a:ext cx="597308" cy="785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g32d8533fe21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1476" y="3953419"/>
            <a:ext cx="558238" cy="7887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14" name="Google Shape;914;g32d8533fe21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97331" y="3966449"/>
            <a:ext cx="790640" cy="747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5" name="Google Shape;915;g32d8533fe21_0_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71959" y="4128470"/>
            <a:ext cx="713581" cy="615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6" name="Google Shape;916;g32d8533fe21_0_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5471" y="4047629"/>
            <a:ext cx="787946" cy="777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7" name="Google Shape;917;g32d8533fe21_0_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85816" y="3977082"/>
            <a:ext cx="668519" cy="644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>
          <a:extLst>
            <a:ext uri="{FF2B5EF4-FFF2-40B4-BE49-F238E27FC236}">
              <a16:creationId xmlns:a16="http://schemas.microsoft.com/office/drawing/2014/main" id="{160AE3C5-400B-168B-2BCF-BE61298E0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39cd19c857_1_323">
            <a:extLst>
              <a:ext uri="{FF2B5EF4-FFF2-40B4-BE49-F238E27FC236}">
                <a16:creationId xmlns:a16="http://schemas.microsoft.com/office/drawing/2014/main" id="{C1C3828B-DF84-EE91-D9C0-D764C116FF85}"/>
              </a:ext>
            </a:extLst>
          </p:cNvPr>
          <p:cNvSpPr txBox="1"/>
          <p:nvPr/>
        </p:nvSpPr>
        <p:spPr>
          <a:xfrm>
            <a:off x="3968338" y="2938024"/>
            <a:ext cx="7233600" cy="353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Strongest sales performance from brand-loyal customers</a:t>
            </a: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pin</a:t>
            </a: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_two_audiences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_with_strongest_roas_commentary}</a:t>
            </a:r>
            <a:endParaRPr sz="135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endParaRPr sz="13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1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Broad category and competitor audiences helped drive awareness </a:t>
            </a:r>
            <a:endParaRPr sz="1350" b="1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{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pin</a:t>
            </a:r>
            <a:r>
              <a:rPr lang="en-US" sz="1350" b="0" i="0" u="none" strike="noStrike" cap="none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_intuitive_comme</a:t>
            </a:r>
            <a:r>
              <a:rPr lang="en-US" sz="1350" dirty="0">
                <a:solidFill>
                  <a:schemeClr val="dk1"/>
                </a:solidFill>
                <a:latin typeface="Poppins"/>
                <a:ea typeface="Arial"/>
                <a:cs typeface="Poppins"/>
                <a:sym typeface="Poppins"/>
              </a:rPr>
              <a:t>ntary_about_audience_performance_commentary}</a:t>
            </a:r>
            <a:endParaRPr sz="1700" b="0" i="0" u="none" strike="noStrike" cap="none" dirty="0">
              <a:solidFill>
                <a:srgbClr val="10022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g339cd19c857_1_323">
            <a:extLst>
              <a:ext uri="{FF2B5EF4-FFF2-40B4-BE49-F238E27FC236}">
                <a16:creationId xmlns:a16="http://schemas.microsoft.com/office/drawing/2014/main" id="{0C548C03-A2BE-EB6B-856F-B8D7EB0E719C}"/>
              </a:ext>
            </a:extLst>
          </p:cNvPr>
          <p:cNvGrpSpPr/>
          <p:nvPr/>
        </p:nvGrpSpPr>
        <p:grpSpPr>
          <a:xfrm>
            <a:off x="1181761" y="3332055"/>
            <a:ext cx="2044878" cy="2023564"/>
            <a:chOff x="5504000" y="3563425"/>
            <a:chExt cx="365725" cy="361900"/>
          </a:xfrm>
        </p:grpSpPr>
        <p:sp>
          <p:nvSpPr>
            <p:cNvPr id="725" name="Google Shape;725;g339cd19c857_1_323">
              <a:extLst>
                <a:ext uri="{FF2B5EF4-FFF2-40B4-BE49-F238E27FC236}">
                  <a16:creationId xmlns:a16="http://schemas.microsoft.com/office/drawing/2014/main" id="{F12556C6-83A7-313E-1F60-EB1C0D621BD3}"/>
                </a:ext>
              </a:extLst>
            </p:cNvPr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g339cd19c857_1_323">
              <a:extLst>
                <a:ext uri="{FF2B5EF4-FFF2-40B4-BE49-F238E27FC236}">
                  <a16:creationId xmlns:a16="http://schemas.microsoft.com/office/drawing/2014/main" id="{381D452D-D42D-0CF7-C499-7C5744B5D407}"/>
                </a:ext>
              </a:extLst>
            </p:cNvPr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g339cd19c857_1_323">
              <a:extLst>
                <a:ext uri="{FF2B5EF4-FFF2-40B4-BE49-F238E27FC236}">
                  <a16:creationId xmlns:a16="http://schemas.microsoft.com/office/drawing/2014/main" id="{45665D41-98DB-B9FB-2425-9BF7613B7AE1}"/>
                </a:ext>
              </a:extLst>
            </p:cNvPr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g339cd19c857_1_323">
              <a:extLst>
                <a:ext uri="{FF2B5EF4-FFF2-40B4-BE49-F238E27FC236}">
                  <a16:creationId xmlns:a16="http://schemas.microsoft.com/office/drawing/2014/main" id="{92B445B2-B0B4-F964-AB18-A212134B55FD}"/>
                </a:ext>
              </a:extLst>
            </p:cNvPr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g339cd19c857_1_323">
              <a:extLst>
                <a:ext uri="{FF2B5EF4-FFF2-40B4-BE49-F238E27FC236}">
                  <a16:creationId xmlns:a16="http://schemas.microsoft.com/office/drawing/2014/main" id="{6A355128-CC49-F098-AAC4-C8FC34222B68}"/>
                </a:ext>
              </a:extLst>
            </p:cNvPr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g339cd19c857_1_323">
              <a:extLst>
                <a:ext uri="{FF2B5EF4-FFF2-40B4-BE49-F238E27FC236}">
                  <a16:creationId xmlns:a16="http://schemas.microsoft.com/office/drawing/2014/main" id="{FDD121B0-E395-2613-D099-6BBD51E5B432}"/>
                </a:ext>
              </a:extLst>
            </p:cNvPr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rgbClr val="33A6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33A69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1" name="Google Shape;731;g339cd19c857_1_323">
            <a:extLst>
              <a:ext uri="{FF2B5EF4-FFF2-40B4-BE49-F238E27FC236}">
                <a16:creationId xmlns:a16="http://schemas.microsoft.com/office/drawing/2014/main" id="{5C30F73B-113E-9EF6-A24C-CAB2F2B2D2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925" y="932125"/>
            <a:ext cx="10383600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600" dirty="0"/>
              <a:t>{pin_audience_performance_commentary}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9263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70B565D6-8ACC-02F2-B07F-81DE744B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D6ABB91C-B976-7448-F013-50361D421165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withstrongestroas_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imp_p}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_spend_p}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_freq_p}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5EF3ACBF-DC38-C72A-C91F-1F11FC135D41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withstrongestroas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{adwithstrongestroas_ctr_p}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7792CBE9-CBF5-E5F9-F002-BD916547445F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{pin_ad_with_strongest_roas_and_impressions_commentary}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A2558DF3-80EE-B584-9067-2A04EFC1B058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pin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with_strongest_roas_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62FC867C-18C9-09D7-55B3-B81E0BCEFA24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{pin_ad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_with_strongest_roas_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151818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>
          <a:extLst>
            <a:ext uri="{FF2B5EF4-FFF2-40B4-BE49-F238E27FC236}">
              <a16:creationId xmlns:a16="http://schemas.microsoft.com/office/drawing/2014/main" id="{B8F98126-9737-53FA-A27E-CE506C59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768c941c3c_0_770">
            <a:extLst>
              <a:ext uri="{FF2B5EF4-FFF2-40B4-BE49-F238E27FC236}">
                <a16:creationId xmlns:a16="http://schemas.microsoft.com/office/drawing/2014/main" id="{CC95E143-8B72-76A9-A128-AA741F5CA6A4}"/>
              </a:ext>
            </a:extLst>
          </p:cNvPr>
          <p:cNvSpPr txBox="1"/>
          <p:nvPr/>
        </p:nvSpPr>
        <p:spPr>
          <a:xfrm>
            <a:off x="447084" y="2156977"/>
            <a:ext cx="2296116" cy="542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IMPRESSIONS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{ad</a:t>
            </a:r>
            <a:r>
              <a:rPr lang="en-GB" sz="2000" dirty="0">
                <a:latin typeface="Poppins"/>
                <a:ea typeface="Poppins"/>
                <a:cs typeface="Poppins"/>
                <a:sym typeface="Poppins"/>
              </a:rPr>
              <a:t>withweakestroas_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imp_p}</a:t>
            </a:r>
            <a:endParaRPr sz="1900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REACH: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_reach_p}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SPEND: 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_spend_p}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FREQ: 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_freq_p}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g3768c941c3c_0_770">
            <a:extLst>
              <a:ext uri="{FF2B5EF4-FFF2-40B4-BE49-F238E27FC236}">
                <a16:creationId xmlns:a16="http://schemas.microsoft.com/office/drawing/2014/main" id="{1006B030-F385-C09F-C543-9DA83B7B9186}"/>
              </a:ext>
            </a:extLst>
          </p:cNvPr>
          <p:cNvSpPr txBox="1"/>
          <p:nvPr/>
        </p:nvSpPr>
        <p:spPr>
          <a:xfrm>
            <a:off x="3016902" y="2156977"/>
            <a:ext cx="2296115" cy="5478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ROAS: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_roas_p}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CPM: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b="0" i="0" u="none" strike="noStrike" cap="none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£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_cpm_p}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LINK CLICKS:</a:t>
            </a:r>
            <a:endParaRPr sz="1900" b="1" i="0" u="none" strike="noStrike" cap="none" dirty="0">
              <a:solidFill>
                <a:schemeClr val="accent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buClr>
                <a:srgbClr val="000000"/>
              </a:buClr>
              <a:buSzPts val="1900"/>
            </a:pP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{</a:t>
            </a:r>
            <a:r>
              <a:rPr lang="en-US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ad</a:t>
            </a:r>
            <a:r>
              <a:rPr lang="en-GB" dirty="0">
                <a:latin typeface="Poppins"/>
                <a:ea typeface="Poppins"/>
                <a:cs typeface="Poppins"/>
                <a:sym typeface="Poppins"/>
              </a:rPr>
              <a:t>withweakestroas </a:t>
            </a:r>
            <a:r>
              <a:rPr lang="en-US" sz="1900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_clicks_p}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r>
              <a:rPr lang="en-US" sz="1900" b="1" i="0" u="none" strike="noStrike" cap="none" dirty="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rPr>
              <a:t>CTR:</a:t>
            </a:r>
            <a:r>
              <a:rPr lang="en-US" sz="1900" b="0" i="0" u="none" strike="noStrike" cap="none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buClr>
                <a:schemeClr val="accent3"/>
              </a:buClr>
              <a:buSzPts val="1500"/>
            </a:pPr>
            <a:r>
              <a:t>{adwithweakestroas_ctr_p}</a:t>
            </a:r>
            <a:endParaRPr sz="1900" b="0" i="0" u="none" strike="noStrike" cap="none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Arial"/>
              <a:buNone/>
            </a:pPr>
            <a:endParaRPr sz="1900" b="0" i="0" u="none" strike="noStrike" cap="none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g3768c941c3c_0_770">
            <a:extLst>
              <a:ext uri="{FF2B5EF4-FFF2-40B4-BE49-F238E27FC236}">
                <a16:creationId xmlns:a16="http://schemas.microsoft.com/office/drawing/2014/main" id="{3A18F81A-08CA-07CA-70BF-9C8B5326DA05}"/>
              </a:ext>
            </a:extLst>
          </p:cNvPr>
          <p:cNvSpPr txBox="1"/>
          <p:nvPr/>
        </p:nvSpPr>
        <p:spPr>
          <a:xfrm>
            <a:off x="394040" y="399742"/>
            <a:ext cx="11097900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{pin_ad_with_weakest_roas_and_impressions_commentary}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g3768c941c3c_0_770">
            <a:extLst>
              <a:ext uri="{FF2B5EF4-FFF2-40B4-BE49-F238E27FC236}">
                <a16:creationId xmlns:a16="http://schemas.microsoft.com/office/drawing/2014/main" id="{1A034D5E-B328-8F5C-8FA1-EBE13AD9A1AC}"/>
              </a:ext>
            </a:extLst>
          </p:cNvPr>
          <p:cNvSpPr txBox="1"/>
          <p:nvPr/>
        </p:nvSpPr>
        <p:spPr>
          <a:xfrm>
            <a:off x="9175096" y="2747234"/>
            <a:ext cx="1974403" cy="2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{pin_ad_</a:t>
            </a:r>
            <a:r>
              <a:rPr lang="en-GB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with_weakest_roas_</a:t>
            </a:r>
            <a:r>
              <a:rPr lang="en-GB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picture_description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748;g3768c941c3c_0_770">
            <a:extLst>
              <a:ext uri="{FF2B5EF4-FFF2-40B4-BE49-F238E27FC236}">
                <a16:creationId xmlns:a16="http://schemas.microsoft.com/office/drawing/2014/main" id="{1A37EFCD-1214-A45A-EA60-A21EA1A805A2}"/>
              </a:ext>
            </a:extLst>
          </p:cNvPr>
          <p:cNvSpPr txBox="1"/>
          <p:nvPr/>
        </p:nvSpPr>
        <p:spPr>
          <a:xfrm>
            <a:off x="5276516" y="2747234"/>
            <a:ext cx="2130738" cy="52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  <a:buClr>
                <a:srgbClr val="000000"/>
              </a:buClr>
              <a:buSzPts val="1200"/>
            </a:pP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{pin_ad</a:t>
            </a:r>
            <a:r>
              <a:rPr lang="en-GB" sz="1200" dirty="0">
                <a:latin typeface="Poppins"/>
                <a:ea typeface="Poppins"/>
                <a:cs typeface="Poppins"/>
                <a:sym typeface="Poppins"/>
              </a:rPr>
              <a:t>_with_weakest_roas_</a:t>
            </a:r>
            <a:r>
              <a:rPr lang="en-GB" sz="1200" b="0" i="0" u="none" strike="noStrike" cap="none" dirty="0">
                <a:latin typeface="Poppins"/>
                <a:ea typeface="Poppins"/>
                <a:cs typeface="Poppins"/>
                <a:sym typeface="Poppins"/>
              </a:rPr>
              <a:t>picture</a:t>
            </a:r>
            <a:r>
              <a:rPr lang="en-US" sz="1200" dirty="0">
                <a:latin typeface="Poppins"/>
                <a:ea typeface="Poppins"/>
                <a:cs typeface="Poppins"/>
                <a:sym typeface="Poppins"/>
              </a:rPr>
              <a:t>}</a:t>
            </a:r>
            <a:endParaRPr sz="1500" b="0" i="0" u="none" strike="noStrike" cap="none" dirty="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​</a:t>
            </a:r>
            <a:r>
              <a:rPr lang="en-US" sz="1200" b="0" i="0" u="none" strike="noStrike" cap="none" dirty="0">
                <a:solidFill>
                  <a:srgbClr val="33A695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2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rgbClr val="33A69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578205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>
          <a:extLst>
            <a:ext uri="{FF2B5EF4-FFF2-40B4-BE49-F238E27FC236}">
              <a16:creationId xmlns:a16="http://schemas.microsoft.com/office/drawing/2014/main" id="{070191EF-EB0C-C3FF-E605-4F6ED7BF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39cd19c857_1_791">
            <a:extLst>
              <a:ext uri="{FF2B5EF4-FFF2-40B4-BE49-F238E27FC236}">
                <a16:creationId xmlns:a16="http://schemas.microsoft.com/office/drawing/2014/main" id="{3764A52F-89A4-B583-1C85-EC839A3EE0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5525501" y="463866"/>
            <a:ext cx="604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866" name="Google Shape;866;g339cd19c857_1_791">
            <a:extLst>
              <a:ext uri="{FF2B5EF4-FFF2-40B4-BE49-F238E27FC236}">
                <a16:creationId xmlns:a16="http://schemas.microsoft.com/office/drawing/2014/main" id="{05B55995-F570-8CCF-6AE3-0619072A7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163" y="399032"/>
            <a:ext cx="8301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3200" b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Audience Performance breakdown</a:t>
            </a:r>
            <a:endParaRPr sz="3200" b="1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867" name="Google Shape;867;g339cd19c857_1_791">
            <a:extLst>
              <a:ext uri="{FF2B5EF4-FFF2-40B4-BE49-F238E27FC236}">
                <a16:creationId xmlns:a16="http://schemas.microsoft.com/office/drawing/2014/main" id="{8B8ABD48-ACA8-BE4C-14F8-DD2BBCB6B6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5268491"/>
              </p:ext>
            </p:extLst>
          </p:nvPr>
        </p:nvGraphicFramePr>
        <p:xfrm>
          <a:off x="229154" y="1050556"/>
          <a:ext cx="11621225" cy="540841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35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2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2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18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089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991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37567">
                  <a:extLst>
                    <a:ext uri="{9D8B030D-6E8A-4147-A177-3AD203B41FA5}">
                      <a16:colId xmlns:a16="http://schemas.microsoft.com/office/drawing/2014/main" val="823453601"/>
                    </a:ext>
                  </a:extLst>
                </a:gridCol>
              </a:tblGrid>
              <a:tr h="639129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Audience Segment</a:t>
                      </a:r>
                    </a:p>
                  </a:txBody>
                  <a:tcPr marL="28575" marR="28575" marT="91425" marB="91425" anchor="b"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Net Spend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Impressions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Reach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Frequency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Clicks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CTR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Net CPM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</a:t>
                      </a:r>
                    </a:p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Revenue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28575" marR="28575" marT="91425" marB="91425" anchor="b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69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403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{p_aud_3}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{p_revenue_3}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{p_roas_3}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{p_aud_4}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{p_revenue_4}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{p_roas_4}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{p_aud_5}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{p_revenue_5}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{p_roas_5}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{p_aud_6}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{p_revenue_6}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{p_roas_6}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{p_aud_7}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{p_revenue_7}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{p_roas_7}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{p_aud_8}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{p_revenue_8}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{p_roas_8}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{p_aud_9}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{p_revenue_9}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{p_roas_9}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{p_aud_10}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{p_revenue_10}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{p_roas_10}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{p_aud_11}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{p_revenue_11}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{p_roas_11}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2031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{p_aud_12}</a:t>
                      </a:r>
                    </a:p>
                  </a:txBody>
                  <a:tcPr marL="9525" marR="9525" marT="9525" marB="0" anchor="b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{p_netspend_12}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{p_imp_12}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{p_reach_12}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{p_freq_12}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{p_clicks_12}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{p_ctr_12}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{p_netcpm_12}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{p_revenue_12}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{p_roi_12}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{p_roas_12}</a:t>
                      </a:r>
                    </a:p>
                  </a:txBody>
                  <a:tcPr marL="9525" marR="9525" marT="9525" marB="0" anchor="b">
                    <a:lnL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62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6250" cap="flat" cmpd="sng">
                      <a:solidFill>
                        <a:srgbClr val="D8D8D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65483F7-1E2F-A777-3D0A-D8E68775A814}"/>
              </a:ext>
            </a:extLst>
          </p:cNvPr>
          <p:cNvSpPr txBox="1"/>
          <p:nvPr/>
        </p:nvSpPr>
        <p:spPr>
          <a:xfrm>
            <a:off x="1828800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4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>
          <a:extLst>
            <a:ext uri="{FF2B5EF4-FFF2-40B4-BE49-F238E27FC236}">
              <a16:creationId xmlns:a16="http://schemas.microsoft.com/office/drawing/2014/main" id="{BC4F56DE-E633-ED4C-232A-A34AAFAA7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2d8533fe21_0_44">
            <a:extLst>
              <a:ext uri="{FF2B5EF4-FFF2-40B4-BE49-F238E27FC236}">
                <a16:creationId xmlns:a16="http://schemas.microsoft.com/office/drawing/2014/main" id="{688DDF4F-533B-CA9C-F19F-231CBEC06B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b="1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Brand</a:t>
            </a: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sales did our Pinterest campaign drive?</a:t>
            </a:r>
            <a:endParaRPr sz="32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g32d8533fe21_0_44">
            <a:extLst>
              <a:ext uri="{FF2B5EF4-FFF2-40B4-BE49-F238E27FC236}">
                <a16:creationId xmlns:a16="http://schemas.microsoft.com/office/drawing/2014/main" id="{B887DB1F-D3E8-30CD-48EF-B187C16FB83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0" name="Google Shape;850;g32d8533fe21_0_44">
            <a:extLst>
              <a:ext uri="{FF2B5EF4-FFF2-40B4-BE49-F238E27FC236}">
                <a16:creationId xmlns:a16="http://schemas.microsoft.com/office/drawing/2014/main" id="{2223798A-8BEA-71CA-6F2E-F64804E099B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aphicFrame>
        <p:nvGraphicFramePr>
          <p:cNvPr id="851" name="Google Shape;851;g32d8533fe21_0_44">
            <a:extLst>
              <a:ext uri="{FF2B5EF4-FFF2-40B4-BE49-F238E27FC236}">
                <a16:creationId xmlns:a16="http://schemas.microsoft.com/office/drawing/2014/main" id="{7EC8D5E7-0597-83CD-6685-DB71C94BF8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1209"/>
              </p:ext>
            </p:extLst>
          </p:nvPr>
        </p:nvGraphicFramePr>
        <p:xfrm>
          <a:off x="2304605" y="1954862"/>
          <a:ext cx="7582800" cy="426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{pin_brand_online_revenue}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Brand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{pin_brand_instore_revenue}</a:t>
                      </a:r>
                    </a:p>
                    <a:p>
                      <a:endParaRPr sz="1000" dirty="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{pin_brand_online_perc_sales}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Brand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{pin_brand_instore_perc_sales}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201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>
          <a:extLst>
            <a:ext uri="{FF2B5EF4-FFF2-40B4-BE49-F238E27FC236}">
              <a16:creationId xmlns:a16="http://schemas.microsoft.com/office/drawing/2014/main" id="{EF47AF85-BCAB-629C-A054-1E1948C6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2d8533fe21_0_51">
            <a:extLst>
              <a:ext uri="{FF2B5EF4-FFF2-40B4-BE49-F238E27FC236}">
                <a16:creationId xmlns:a16="http://schemas.microsoft.com/office/drawing/2014/main" id="{EF663437-8649-4482-C81D-39A12D83625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 rot="-5400000">
            <a:off x="9573640" y="2567081"/>
            <a:ext cx="47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/>
              <a:t>SALES PERFORMANCE</a:t>
            </a:r>
            <a:endParaRPr/>
          </a:p>
        </p:txBody>
      </p:sp>
      <p:sp>
        <p:nvSpPr>
          <p:cNvPr id="857" name="Google Shape;857;g32d8533fe21_0_51">
            <a:extLst>
              <a:ext uri="{FF2B5EF4-FFF2-40B4-BE49-F238E27FC236}">
                <a16:creationId xmlns:a16="http://schemas.microsoft.com/office/drawing/2014/main" id="{9300A292-0ADB-94D5-818B-D09090B29C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277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graphicFrame>
        <p:nvGraphicFramePr>
          <p:cNvPr id="858" name="Google Shape;858;g32d8533fe21_0_51">
            <a:extLst>
              <a:ext uri="{FF2B5EF4-FFF2-40B4-BE49-F238E27FC236}">
                <a16:creationId xmlns:a16="http://schemas.microsoft.com/office/drawing/2014/main" id="{6FE7541A-7BD3-916B-37FC-044EA070C5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7142351"/>
              </p:ext>
            </p:extLst>
          </p:nvPr>
        </p:nvGraphicFramePr>
        <p:xfrm>
          <a:off x="2304605" y="1954862"/>
          <a:ext cx="7582800" cy="42569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95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3900">
                <a:tc>
                  <a:txBody>
                    <a:bodyPr/>
                    <a:lstStyle/>
                    <a:p>
                      <a:r>
                        <a:t>Metrics 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 Total Issey Miyake FSKUs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Gross Spend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{pin_gross_spend}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ROAS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{pin_fsku_roas}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ROI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{pin_fsku_roi}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online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{pin_fsku_online_revenue}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revenue</a:t>
                      </a: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{pin_fsku_instore_revenue}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online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{pin_online_perc_sales_meta}</a:t>
                      </a: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4975">
                <a:tc>
                  <a:txBody>
                    <a:bodyPr/>
                    <a:lstStyle/>
                    <a:p>
                      <a:r>
                        <a:rPr sz="1000">
                          <a:latin typeface="Poppins" pitchFamily="2" charset="77"/>
                          <a:cs typeface="Poppins" pitchFamily="2" charset="77"/>
                        </a:rPr>
                        <a:t>FSKU instore % of sales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Poppins" pitchFamily="2" charset="77"/>
                          <a:cs typeface="Poppins" pitchFamily="2" charset="77"/>
                        </a:rPr>
                        <a:t>{pin_instore_perc_sales_meta</a:t>
                      </a:r>
                      <a:r>
                        <a:rPr lang="en-GB" sz="1000" dirty="0">
                          <a:latin typeface="Poppins" pitchFamily="2" charset="77"/>
                          <a:cs typeface="Poppins" pitchFamily="2" charset="77"/>
                        </a:rPr>
                        <a:t>}</a:t>
                      </a:r>
                      <a:endParaRPr sz="1000" dirty="0">
                        <a:latin typeface="Poppins" pitchFamily="2" charset="77"/>
                        <a:cs typeface="Poppins" pitchFamily="2" charset="77"/>
                      </a:endParaRPr>
                    </a:p>
                  </a:txBody>
                  <a:tcPr marL="5450" marR="5450" marT="545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60" name="Google Shape;860;g32d8533fe21_0_51">
            <a:extLst>
              <a:ext uri="{FF2B5EF4-FFF2-40B4-BE49-F238E27FC236}">
                <a16:creationId xmlns:a16="http://schemas.microsoft.com/office/drawing/2014/main" id="{7004DFCB-5C21-9D98-CCCC-537BDFB2BA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2975" y="620725"/>
            <a:ext cx="95754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How many </a:t>
            </a:r>
            <a:r>
              <a:rPr lang="en-US" sz="3200" dirty="0">
                <a:solidFill>
                  <a:srgbClr val="12121A"/>
                </a:solidFill>
                <a:latin typeface="Poppins" pitchFamily="2" charset="77"/>
                <a:cs typeface="Poppins" pitchFamily="2" charset="77"/>
              </a:rPr>
              <a:t>Featured product </a:t>
            </a:r>
            <a:r>
              <a:rPr lang="en-US" sz="32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sales did our Pinterest campaign drive?</a:t>
            </a:r>
            <a:endParaRPr sz="32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6348996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39d57e8f9a_0_248"/>
          <p:cNvSpPr txBox="1">
            <a:spLocks noGrp="1"/>
          </p:cNvSpPr>
          <p:nvPr>
            <p:ph type="title"/>
          </p:nvPr>
        </p:nvSpPr>
        <p:spPr>
          <a:xfrm>
            <a:off x="4118876" y="3736925"/>
            <a:ext cx="7210200" cy="21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>
                <a:latin typeface="Poppins"/>
                <a:ea typeface="Poppins"/>
                <a:cs typeface="Poppins"/>
                <a:sym typeface="Poppins"/>
              </a:rPr>
              <a:t>Learnings &amp; recommendations for future activations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1" name="Google Shape;851;g339d57e8f9a_0_248"/>
          <p:cNvSpPr txBox="1"/>
          <p:nvPr/>
        </p:nvSpPr>
        <p:spPr>
          <a:xfrm>
            <a:off x="900450" y="3619775"/>
            <a:ext cx="30000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sz="7200" b="1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768c941c3c_0_2211"/>
          <p:cNvSpPr/>
          <p:nvPr/>
        </p:nvSpPr>
        <p:spPr>
          <a:xfrm>
            <a:off x="6368800" y="1589767"/>
            <a:ext cx="3702300" cy="4484700"/>
          </a:xfrm>
          <a:prstGeom prst="roundRect">
            <a:avLst>
              <a:gd name="adj" fmla="val 16667"/>
            </a:avLst>
          </a:prstGeom>
          <a:noFill/>
          <a:ln w="508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>
              <a:lnSpc>
                <a:spcPct val="115000"/>
              </a:lnSpc>
              <a:spcBef>
                <a:spcPts val="1600"/>
              </a:spcBef>
            </a:pPr>
            <a:r>
              <a:rPr lang="en-US" sz="16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{campaign_objective_2}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500" i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Did we meet this objective?</a:t>
            </a:r>
            <a:endParaRPr sz="13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rPr>
              <a:t>Work in progress</a:t>
            </a:r>
            <a:r>
              <a:rPr lang="en-US" sz="13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                           </a:t>
            </a: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We saw limited returns attributable to the A360 campaign, however strong engagement and consideration metrics, highlighting the campaign effectively drove brand interest and warmed leads for conversion.</a:t>
            </a:r>
          </a:p>
          <a:p>
            <a:pPr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</a:pPr>
            <a:r>
              <a:rPr lang="en-US" sz="12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{how_objective_2_was_met_commentary}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2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7" name="Google Shape;857;g3768c941c3c_0_2211"/>
          <p:cNvSpPr/>
          <p:nvPr/>
        </p:nvSpPr>
        <p:spPr>
          <a:xfrm>
            <a:off x="2044467" y="1589767"/>
            <a:ext cx="3702300" cy="4484700"/>
          </a:xfrm>
          <a:prstGeom prst="roundRect">
            <a:avLst>
              <a:gd name="adj" fmla="val 16667"/>
            </a:avLst>
          </a:prstGeom>
          <a:noFill/>
          <a:ln w="508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{campaign_objective_1}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500" i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Did we meet this objective? </a:t>
            </a:r>
            <a:endParaRPr sz="2000" i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Yes</a:t>
            </a:r>
            <a:br>
              <a:rPr lang="en-US" sz="13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Delivering </a:t>
            </a:r>
            <a:r>
              <a:rPr lang="en-US" sz="13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12m impressions</a:t>
            </a: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across A360 campaign, and reaching </a:t>
            </a:r>
            <a:r>
              <a:rPr lang="en-US" sz="1300" b="1" dirty="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2m unique prime prospective Boots shoppers</a:t>
            </a: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we have successfully spread the news of the Huda Beauty Easy Bake Setting Spray to a wide audience of interested Boots shoppers.</a:t>
            </a: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{how_objective_1_was_met_commentary}</a:t>
            </a:r>
            <a:endParaRPr sz="13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8" name="Google Shape;858;g3768c941c3c_0_2211"/>
          <p:cNvSpPr txBox="1">
            <a:spLocks noGrp="1"/>
          </p:cNvSpPr>
          <p:nvPr>
            <p:ph type="title" idx="3"/>
          </p:nvPr>
        </p:nvSpPr>
        <p:spPr>
          <a:xfrm>
            <a:off x="496933" y="428300"/>
            <a:ext cx="9715500" cy="861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A recap on our objectives…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339d57e8f9a_0_255"/>
          <p:cNvSpPr txBox="1">
            <a:spLocks noGrp="1"/>
          </p:cNvSpPr>
          <p:nvPr>
            <p:ph type="sldNum" idx="12"/>
          </p:nvPr>
        </p:nvSpPr>
        <p:spPr>
          <a:xfrm rot="-5400000">
            <a:off x="11659538" y="637362"/>
            <a:ext cx="4533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780" name="Google Shape;780;g339d57e8f9a_0_255"/>
          <p:cNvSpPr/>
          <p:nvPr/>
        </p:nvSpPr>
        <p:spPr>
          <a:xfrm>
            <a:off x="2969150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g339d57e8f9a_0_255"/>
          <p:cNvSpPr/>
          <p:nvPr/>
        </p:nvSpPr>
        <p:spPr>
          <a:xfrm>
            <a:off x="9213849" y="2079762"/>
            <a:ext cx="2358000" cy="41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100" b="0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There was only one set of creatives being included in this campaign. We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couldn’t further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optimise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the campaign at creative level.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Also, Black Friday influenced our audience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behaviour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, who showed interest in browsing products, but not yet converting, proven by strong  CTR.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0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Include a variety of formats in future campaigns, including video and statics for link ads, carousels and collection ads.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to incorporate event-specific messaging, such as Black Friday and other special occasions, into future campaigns to enhance relevance and engagement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2" name="Google Shape;782;g339d57e8f9a_0_255"/>
          <p:cNvSpPr/>
          <p:nvPr/>
        </p:nvSpPr>
        <p:spPr>
          <a:xfrm>
            <a:off x="456149" y="2079762"/>
            <a:ext cx="2530800" cy="4156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Pinterest drove a stronger RO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 performance, whilst Meta saw a stronger CTR and more cost-efficient CPM. This performance is a consistent trend across A360 premium </a:t>
            </a:r>
            <a:r>
              <a:rPr lang="en-US" sz="1050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strike="noStrike" cap="none" dirty="0">
                <a:solidFill>
                  <a:srgbClr val="100228"/>
                </a:solidFill>
                <a:latin typeface="Poppins"/>
                <a:ea typeface="Poppins"/>
                <a:cs typeface="Poppins"/>
                <a:sym typeface="Poppins"/>
              </a:rPr>
              <a:t>campaigns. </a:t>
            </a:r>
            <a:endParaRPr sz="1050" b="0" i="0" strike="noStrike" cap="none" dirty="0">
              <a:solidFill>
                <a:srgbClr val="100228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 </a:t>
            </a:r>
            <a:endParaRPr sz="105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Given the channels’ different strengths for premium </a:t>
            </a:r>
            <a:r>
              <a:rPr lang="en-US" sz="105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fragrance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campaigns, c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"/>
                  </a:ext>
                </a:extLst>
              </a:rPr>
              <a:t>ontinue </a:t>
            </a:r>
            <a:r>
              <a:rPr lang="en-US" sz="105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activating a multi-channel approach for future campaigns with a similar campaign objective. </a:t>
            </a:r>
            <a:endParaRPr sz="105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050" b="0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05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3" name="Google Shape;783;g339d57e8f9a_0_255"/>
          <p:cNvSpPr txBox="1">
            <a:spLocks noGrp="1"/>
          </p:cNvSpPr>
          <p:nvPr>
            <p:ph type="title"/>
          </p:nvPr>
        </p:nvSpPr>
        <p:spPr>
          <a:xfrm>
            <a:off x="556775" y="698850"/>
            <a:ext cx="11025600" cy="13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sz="3200" dirty="0">
                <a:latin typeface="Poppins"/>
                <a:ea typeface="Poppins"/>
                <a:cs typeface="Poppins"/>
                <a:sym typeface="Poppins"/>
              </a:rPr>
              <a:t>Learnings &amp; considerations to take forward into future campaign planning </a:t>
            </a:r>
            <a:r>
              <a:rPr lang="en-US" sz="3200" b="1" dirty="0">
                <a:latin typeface="Poppins"/>
                <a:ea typeface="Poppins"/>
                <a:cs typeface="Poppins"/>
                <a:sym typeface="Poppins"/>
              </a:rPr>
              <a:t>| Targeting, Phasing &amp; Creative</a:t>
            </a:r>
            <a:endParaRPr sz="32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4" name="Google Shape;784;g339d57e8f9a_0_255"/>
          <p:cNvSpPr/>
          <p:nvPr/>
        </p:nvSpPr>
        <p:spPr>
          <a:xfrm>
            <a:off x="5673846" y="346632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g339d57e8f9a_0_255"/>
          <p:cNvSpPr/>
          <p:nvPr/>
        </p:nvSpPr>
        <p:spPr>
          <a:xfrm>
            <a:off x="6139849" y="2079762"/>
            <a:ext cx="2589000" cy="37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ROI is yet to be positive this time. We need to build awareness among Boots prospective shoppers, and to build foundation for future sales campaigns.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following</a:t>
            </a:r>
            <a:r>
              <a:rPr lang="en-US" sz="1100" b="0" i="0" u="none" strike="noStrike" cap="none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a phased approach with a longer overall campaign period. Phase 1 to drive awareness and warm leads and Phase 2 to drive sales. We have seen increase in sales performance on acquisitional audiences between Phase 1 &amp; 2 in previous A360 campaigns.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6" name="Google Shape;786;g339d57e8f9a_0_255"/>
          <p:cNvSpPr/>
          <p:nvPr/>
        </p:nvSpPr>
        <p:spPr>
          <a:xfrm>
            <a:off x="8788849" y="3423675"/>
            <a:ext cx="78900" cy="1280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g339d57e8f9a_0_255"/>
          <p:cNvSpPr/>
          <p:nvPr/>
        </p:nvSpPr>
        <p:spPr>
          <a:xfrm>
            <a:off x="3065849" y="2079762"/>
            <a:ext cx="2589000" cy="44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Learning:</a:t>
            </a:r>
            <a:r>
              <a:rPr lang="en-US" sz="1100" b="0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Issey Miyake shoppers prefers to shop online across Boots. </a:t>
            </a:r>
            <a:endParaRPr sz="1100" b="0" i="0" u="none" strike="noStrike" cap="none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b="1" i="0" u="none" strike="noStrike" cap="none" dirty="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Recommendation:</a:t>
            </a:r>
            <a:endParaRPr sz="1100" b="1" i="0" u="none" strike="noStrike" cap="none" dirty="0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Consider this online purchase </a:t>
            </a:r>
            <a:r>
              <a:rPr lang="en-US" sz="1100" dirty="0" err="1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behaviour</a:t>
            </a: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 while planning for future campaign. 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100" dirty="0">
                <a:solidFill>
                  <a:srgbClr val="12121A"/>
                </a:solidFill>
                <a:latin typeface="Poppins"/>
                <a:ea typeface="Poppins"/>
                <a:cs typeface="Poppins"/>
                <a:sym typeface="Poppins"/>
              </a:rPr>
              <a:t>Continue to overlay of online active membership segment towards audiences.</a:t>
            </a:r>
            <a:endParaRPr sz="1100" dirty="0">
              <a:solidFill>
                <a:srgbClr val="1212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100" dirty="0">
              <a:solidFill>
                <a:srgbClr val="FF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5"/>
          <p:cNvSpPr txBox="1">
            <a:spLocks noGrp="1"/>
          </p:cNvSpPr>
          <p:nvPr>
            <p:ph type="title"/>
          </p:nvPr>
        </p:nvSpPr>
        <p:spPr>
          <a:xfrm>
            <a:off x="720533" y="4633033"/>
            <a:ext cx="10968300" cy="7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0"/>
              <a:t>Thank you.</a:t>
            </a:r>
            <a:endParaRPr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8732</TotalTime>
  <Words>6054</Words>
  <Application>Microsoft Macintosh PowerPoint</Application>
  <PresentationFormat>Widescreen</PresentationFormat>
  <Paragraphs>1138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Montserrat</vt:lpstr>
      <vt:lpstr>Montserrat ExtraLight</vt:lpstr>
      <vt:lpstr>Poppins</vt:lpstr>
      <vt:lpstr>Poppins Light</vt:lpstr>
      <vt:lpstr>Poppins SemiBold</vt:lpstr>
      <vt:lpstr>Office Theme</vt:lpstr>
      <vt:lpstr>{brand_name}</vt:lpstr>
      <vt:lpstr>01</vt:lpstr>
      <vt:lpstr>Campaign Brief Summary</vt:lpstr>
      <vt:lpstr>Campaign Summary</vt:lpstr>
      <vt:lpstr>PowerPoint Presentation</vt:lpstr>
      <vt:lpstr>Post Campaign Report</vt:lpstr>
      <vt:lpstr>Total Campaign Summary</vt:lpstr>
      <vt:lpstr>{estimated_versus_actual_performance_commentary}</vt:lpstr>
      <vt:lpstr>{channel_performance_commentary}</vt:lpstr>
      <vt:lpstr>{brand_and_fsku_roas_performance_wrt_overall_traffic_performance_commentary} </vt:lpstr>
      <vt:lpstr>{percentage_of_instore_online_sales_commentary}</vt:lpstr>
      <vt:lpstr>Post-campaign Report: Meta</vt:lpstr>
      <vt:lpstr>Meta Campaign Summary</vt:lpstr>
      <vt:lpstr>{meta_audience_performance_commentary}</vt:lpstr>
      <vt:lpstr>PowerPoint Presentation</vt:lpstr>
      <vt:lpstr>PowerPoint Presentation</vt:lpstr>
      <vt:lpstr>Audience Performance breakdown</vt:lpstr>
      <vt:lpstr>How many Brand sales did our Meta campaign drive?</vt:lpstr>
      <vt:lpstr>How many Featured product sales did our Meta campaign drive?</vt:lpstr>
      <vt:lpstr>Post-campaign Report: TikTok</vt:lpstr>
      <vt:lpstr>TikTok Campaign Summary</vt:lpstr>
      <vt:lpstr>{tik_audience_performance_commentary}</vt:lpstr>
      <vt:lpstr>PowerPoint Presentation</vt:lpstr>
      <vt:lpstr>PowerPoint Presentation</vt:lpstr>
      <vt:lpstr>Audience Performance breakdown</vt:lpstr>
      <vt:lpstr>How many Brand sales did our TikTok campaign drive?</vt:lpstr>
      <vt:lpstr>How many Featured product sales did our Tiktok campaign drive?</vt:lpstr>
      <vt:lpstr>Post-campaign Report: Pinterest</vt:lpstr>
      <vt:lpstr>Pinterest Campaign Summary</vt:lpstr>
      <vt:lpstr>{pin_audience_performance_commentary}</vt:lpstr>
      <vt:lpstr>PowerPoint Presentation</vt:lpstr>
      <vt:lpstr>PowerPoint Presentation</vt:lpstr>
      <vt:lpstr>Audience Performance breakdown</vt:lpstr>
      <vt:lpstr>How many Brand sales did our Pinterest campaign drive?</vt:lpstr>
      <vt:lpstr>How many Featured product sales did our Pinterest campaign drive?</vt:lpstr>
      <vt:lpstr>Learnings &amp; recommendations for future activations</vt:lpstr>
      <vt:lpstr>A recap on our objectives…</vt:lpstr>
      <vt:lpstr>Learnings &amp; considerations to take forward into future campaign planning | Targeting, Phasing &amp; Creative</vt:lpstr>
      <vt:lpstr>Thank you.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Funto Adeyemi</dc:creator>
  <cp:lastModifiedBy>Funto Adeyemi</cp:lastModifiedBy>
  <cp:revision>11</cp:revision>
  <dcterms:created xsi:type="dcterms:W3CDTF">2025-11-20T14:08:04Z</dcterms:created>
  <dcterms:modified xsi:type="dcterms:W3CDTF">2026-01-06T13:36:37Z</dcterms:modified>
</cp:coreProperties>
</file>