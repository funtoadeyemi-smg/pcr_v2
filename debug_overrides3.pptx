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{brand_name}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{date_}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{channel1}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{channel2}</a:t>
            </a:r>
          </a:p>
        </p:txBody>
      </p:sp>
      <p:pic>
        <p:nvPicPr>
          <p:cNvPr id="495" name="Picture 494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43000"/>
            <a:ext cx="12192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{campaign_objective}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{primary_kpis}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{secondary_kpis}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{further_measurements}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{brand_name}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{campaign_name}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{flight_dates}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{channels}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2DF3C3-88B9-EBE6-16E6-6B3E3658F137}"/>
              </a:ext>
            </a:extLst>
          </p:cNvPr>
          <p:cNvSpPr txBox="1"/>
          <p:nvPr/>
        </p:nvSpPr>
        <p:spPr>
          <a:xfrm>
            <a:off x="8241553" y="3024094"/>
            <a:ext cx="289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{campaign_summary_picture}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{overall_campaign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{overall_engagement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performance_commentary}</a:t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{overall_sales_revenue_ROI_performance_commentary}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{overall_reach_performance_commentary}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{gross_spend}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g339cd19c857_1_145"/>
          <p:cNvSpPr txBox="1"/>
          <p:nvPr/>
        </p:nvSpPr>
        <p:spPr>
          <a:xfrm>
            <a:off x="3783951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g339cd19c857_1_145"/>
          <p:cNvSpPr txBox="1"/>
          <p:nvPr/>
        </p:nvSpPr>
        <p:spPr>
          <a:xfrm>
            <a:off x="5494875" y="5368456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{N/A}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£{net_cpm}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£{gross_est}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{imp_est}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{reach_est}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{ctr_est}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£{net_cpm_est}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{click_est}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{freq_est}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{clicks}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{ctr}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{estimated_versus_actual</a:t>
            </a:r>
            <a:r>
              <a:rPr lang="en-US" sz="2500" dirty="0">
                <a:solidFill>
                  <a:schemeClr val="accent3"/>
                </a:solidFill>
              </a:rPr>
              <a:t>_</a:t>
            </a:r>
            <a:r>
              <a:rPr lang="en-US" sz="2500" b="0" dirty="0">
                <a:solidFill>
                  <a:schemeClr val="accent3"/>
                </a:solidFill>
              </a:rPr>
              <a:t>performance_commentary}</a:t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g339d57e8f9a_0_50"/>
          <p:cNvSpPr txBox="1"/>
          <p:nvPr/>
        </p:nvSpPr>
        <p:spPr>
          <a:xfrm>
            <a:off x="5061352" y="1822397"/>
            <a:ext cx="273747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25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3" name="Google Shape;633;g339d57e8f9a_0_50" title="Chart"/>
          <p:cNvPicPr preferRelativeResize="0"/>
          <p:nvPr/>
        </p:nvPicPr>
        <p:blipFill rotWithShape="1">
          <a:blip r:embed="rId3">
            <a:alphaModFix/>
          </a:blip>
          <a:srcRect t="23153"/>
          <a:stretch/>
        </p:blipFill>
        <p:spPr>
          <a:xfrm>
            <a:off x="682475" y="2862000"/>
            <a:ext cx="3428025" cy="257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g339d57e8f9a_0_50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251" y="2715499"/>
            <a:ext cx="3913662" cy="26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g339d57e8f9a_0_50" title="Chart"/>
          <p:cNvPicPr preferRelativeResize="0"/>
          <p:nvPr/>
        </p:nvPicPr>
        <p:blipFill rotWithShape="1">
          <a:blip r:embed="rId5">
            <a:alphaModFix/>
          </a:blip>
          <a:srcRect t="10538"/>
          <a:stretch/>
        </p:blipFill>
        <p:spPr>
          <a:xfrm>
            <a:off x="8171125" y="2805450"/>
            <a:ext cx="3395374" cy="25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{perc_imp}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{perc_clicks}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{channel_performance_commentary}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{reach}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{impressions}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{ctr}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£{gross_spend}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£{brand_rev}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£{brand_roas}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£{fsku_rev}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£{fsku_roas}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{meta_reach}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{meta_ctr}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£{meta_net_cpm}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{meta_clicks}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£{meta_brand_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meta_brand_roi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£{meta_fsku_rev}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£{meta_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fsku_roi</a:t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ROI</a:t>
            </a:r>
          </a:p>
        </p:txBody>
      </p:sp>
      <p:sp>
        <p:nvSpPr>
          <p:cNvPr id="676" name="Google Shape;676;g32d8533fe21_0_59"/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g32d8533fe21_0_59"/>
          <p:cNvSpPr/>
          <p:nvPr/>
        </p:nvSpPr>
        <p:spPr>
          <a:xfrm>
            <a:off x="200016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in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_reach}</a:t>
            </a:r>
          </a:p>
        </p:txBody>
      </p:sp>
      <p:sp>
        <p:nvSpPr>
          <p:cNvPr id="678" name="Google Shape;678;g32d8533fe21_0_59"/>
          <p:cNvSpPr/>
          <p:nvPr/>
        </p:nvSpPr>
        <p:spPr>
          <a:xfrm>
            <a:off x="3174387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9" name="Google Shape;679;g32d8533fe21_0_59"/>
          <p:cNvSpPr/>
          <p:nvPr/>
        </p:nvSpPr>
        <p:spPr>
          <a:xfrm>
            <a:off x="4365316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{pin_ctr}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g32d8533fe21_0_59"/>
          <p:cNvSpPr/>
          <p:nvPr/>
        </p:nvSpPr>
        <p:spPr>
          <a:xfrm>
            <a:off x="5536392" y="42470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g32d8533fe21_0_59"/>
          <p:cNvSpPr/>
          <p:nvPr/>
        </p:nvSpPr>
        <p:spPr>
          <a:xfrm>
            <a:off x="6727321" y="425938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{pin_clicks}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82" name="Google Shape;682;g32d8533fe21_0_59"/>
          <p:cNvSpPr/>
          <p:nvPr/>
        </p:nvSpPr>
        <p:spPr>
          <a:xfrm>
            <a:off x="7894674" y="4239283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£{pin_gross_spend}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2d8533fe21_0_59"/>
          <p:cNvSpPr/>
          <p:nvPr/>
        </p:nvSpPr>
        <p:spPr>
          <a:xfrm>
            <a:off x="9099783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£{pin_brand_roi}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91" name="Google Shape;691;g32d8533fe21_0_59"/>
          <p:cNvSpPr/>
          <p:nvPr/>
        </p:nvSpPr>
        <p:spPr>
          <a:xfrm>
            <a:off x="10392651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£{pin_fsku_rev}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£{pin_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fsku_roas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ROAS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pin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_fsku_roi} ROI</a:t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6382327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5397127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{tik_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each}</a:t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540009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{tik_impressions}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540900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{tik_ctr}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541086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et_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541129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{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_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</a:t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5403064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£{tik_gross_spend}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5397127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£{tik_brand_rev}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£{tik_brand_roas}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£{tik_brand_roi}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5414940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_fsku_rev}</a:t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_fsku_roas}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£{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tik_fsku_roi</a:t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} </a:t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{brand_and_fsku_roas_performance_wrt_overall_traffic_performance_commentary}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{brand_roas}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roas}</a:t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{brand_rev}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_r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ev}</a:t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{brand_units}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{fsku_ 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nits}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{percentage_of_instore_online_sales_commentary}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instore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_units}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revenue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aov</a:t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{instore_aov}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{online_units}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£{meta_gross_spend}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{meta_impressions}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eta_freq}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£{meta_net_cpm}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{meta_est_freq}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{meta_ctr}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{meta_intuitive_comme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{meta_audience_performance_commentary}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imp_m}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_spend_m}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_freq_m}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_clicks_m}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{adwithweakestroas_ctr_m}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{meta_ad_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{meta_ad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{m_imp_4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$</a:t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{m_netspend_11}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{m_netspend_12}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{meta_brand_instore_revenue}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{meta_brand_instore_perc_sales}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{meta_fsku_instore_revenue}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{FSKU_online_perc_sales_meta}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_gross_spend}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_impressions}</a:t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{tik_reach}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_freq}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£{tik_net_cpm}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_est_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{tik_est_clicks}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{tik_est_freq}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{tik_clicks}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{tik_ctr}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{tik_intuitive_comme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{tik_audience_performance_commentary}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imp_t}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_spend_t}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_freq_t}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_clicks_t}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{adwithweakestroas_ctr_t}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{tik_ad_with_weakest_roas_and_impressions_commentary}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{tik_ad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{t_aud_12}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{t_roas_12}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{tik_fsku_roi}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9EFD77DB-9AE1-78FD-952E-35588BD07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Pinterest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2d8533fe21_0_0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Pinterest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0" name="Google Shape;890;g32d8533fe21_0_0"/>
          <p:cNvSpPr txBox="1"/>
          <p:nvPr/>
        </p:nvSpPr>
        <p:spPr>
          <a:xfrm>
            <a:off x="90717" y="5076258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£{pin_gross_spend}</a:t>
            </a:r>
          </a:p>
        </p:txBody>
      </p:sp>
      <p:sp>
        <p:nvSpPr>
          <p:cNvPr id="891" name="Google Shape;891;g32d8533fe21_0_0"/>
          <p:cNvSpPr txBox="1"/>
          <p:nvPr/>
        </p:nvSpPr>
        <p:spPr>
          <a:xfrm>
            <a:off x="1845103" y="5074427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{pin_impressions}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2" name="Google Shape;892;g32d8533fe21_0_0"/>
          <p:cNvSpPr txBox="1"/>
          <p:nvPr/>
        </p:nvSpPr>
        <p:spPr>
          <a:xfrm>
            <a:off x="375526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{pin_reach}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3" name="Google Shape;893;g32d8533fe21_0_0"/>
          <p:cNvSpPr txBox="1"/>
          <p:nvPr/>
        </p:nvSpPr>
        <p:spPr>
          <a:xfrm>
            <a:off x="547927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in_f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4" name="Google Shape;894;g32d8533fe21_0_0"/>
          <p:cNvSpPr txBox="1"/>
          <p:nvPr/>
        </p:nvSpPr>
        <p:spPr>
          <a:xfrm>
            <a:off x="10260163" y="5014470"/>
            <a:ext cx="1455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£{pin_net_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cpm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2d8533fe21_0_0"/>
          <p:cNvSpPr txBox="1"/>
          <p:nvPr/>
        </p:nvSpPr>
        <p:spPr>
          <a:xfrm>
            <a:off x="350890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{pin_est_spend}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6" name="Google Shape;896;g32d8533fe21_0_0"/>
          <p:cNvSpPr txBox="1"/>
          <p:nvPr/>
        </p:nvSpPr>
        <p:spPr>
          <a:xfrm>
            <a:off x="2009813" y="607630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{pin_est_imp}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7" name="Google Shape;897;g32d8533fe21_0_0"/>
          <p:cNvSpPr txBox="1"/>
          <p:nvPr/>
        </p:nvSpPr>
        <p:spPr>
          <a:xfrm>
            <a:off x="3740465" y="607394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{pin_est_reach}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8" name="Google Shape;898;g32d8533fe21_0_0"/>
          <p:cNvSpPr txBox="1"/>
          <p:nvPr/>
        </p:nvSpPr>
        <p:spPr>
          <a:xfrm>
            <a:off x="8658335" y="614708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sz="1200" dirty="0">
                <a:solidFill>
                  <a:schemeClr val="bg1">
                    <a:lumMod val="65000"/>
                  </a:schemeClr>
                </a:solidFill>
              </a:rPr>
              <a:t>{pin_est_ctr}</a:t>
            </a:r>
            <a:endParaRPr sz="1200" b="0" i="0" u="none" strike="noStrike" cap="none" dirty="0">
              <a:solidFill>
                <a:schemeClr val="bg1">
                  <a:lumMod val="6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g32d8533fe21_0_0"/>
          <p:cNvSpPr txBox="1"/>
          <p:nvPr/>
        </p:nvSpPr>
        <p:spPr>
          <a:xfrm>
            <a:off x="10231882" y="6147084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{pin_est_cpm}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0" name="Google Shape;900;g32d8533fe21_0_0"/>
          <p:cNvSpPr txBox="1"/>
          <p:nvPr/>
        </p:nvSpPr>
        <p:spPr>
          <a:xfrm>
            <a:off x="7120303" y="60763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{pin_est_clicks}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g32d8533fe21_0_0"/>
          <p:cNvSpPr txBox="1"/>
          <p:nvPr/>
        </p:nvSpPr>
        <p:spPr>
          <a:xfrm>
            <a:off x="5450075" y="6073944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SzPts val="1200"/>
            </a:pP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{pin_est_freq}</a:t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g32d8533fe21_0_0"/>
          <p:cNvSpPr txBox="1"/>
          <p:nvPr/>
        </p:nvSpPr>
        <p:spPr>
          <a:xfrm>
            <a:off x="7120303" y="5089654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{pin_clicks}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g32d8533fe21_0_0"/>
          <p:cNvSpPr txBox="1"/>
          <p:nvPr/>
        </p:nvSpPr>
        <p:spPr>
          <a:xfrm>
            <a:off x="8658883" y="5074925"/>
            <a:ext cx="14556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{pin_ctr}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1C3828B-DF84-EE91-D9C0-D764C116FF8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_two_audiences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_with_strongest_roas_commentary}</a:t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{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pin</a:t>
            </a: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_intuitive_comme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ntary_about_audience_performance_commentary}</a:t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5C30F73B-113E-9EF6-A24C-CAB2F2B2D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{pin_audience_performance_commentary}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withstrongestroas_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{adwithstrongestroas_ctr_p}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7792CBE9-CBF5-E5F9-F002-BD916547445F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{pin_ad_with_strongest_roas_and_impressions_commentary}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A2558DF3-80EE-B584-9067-2A04EFC1B058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with_strongest_roas_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62FC867C-18C9-09D7-55B3-B81E0BCEFA24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_with_strongest_roas_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{ad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>withweakestroas_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imp_p}</a:t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_spend_p}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_cpm_p}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{adwithweakestroas_ctr_p}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3A18F81A-08CA-07CA-70BF-9C8B5326DA05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{pin_ad_with_weakest_roas_and_impressions_commentary}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1A034D5E-B328-8F5C-8FA1-EBE13AD9A1AC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{pin_ad_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with_weakest_roas_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picture_description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1A37EFCD-1214-A45A-EA60-A21EA1A805A2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{pin_ad</a:t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>_with_weakest_roas_</a:t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>picture</a:t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>}</a:t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8B8ABD48-ACA8-BE4C-14F8-DD2BBCB6B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5268491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{p_aud_3}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{p_revenue_3}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{p_roas_3}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{p_aud_4}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{p_revenue_4}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{p_roas_4}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{p_aud_5}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{p_revenue_5}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{p_roas_5}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{p_aud_6}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{p_revenue_6}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{p_roas_6}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{p_aud_7}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{p_revenue_7}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{p_roas_7}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{p_aud_8}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{p_revenue_8}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{p_roas_8}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{p_aud_9}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{p_revenue_9}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{p_roas_9}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{p_aud_10}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{p_revenue_10}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{p_roas_10}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{p_aud_11}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{p_revenue_11}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{p_roas_11}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{p_aud_12}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{p_netspend_12}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{p_imp_12}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{p_reach_12}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{p_freq_12}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{p_clicks_12}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{p_ctr_12}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{p_netcpm_12}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{p_revenue_12}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{p_roi_12}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{p_roas_12}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688DDF4F-533B-CA9C-F19F-231CBEC06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7EC8D5E7-0597-83CD-6685-DB71C94BF8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1209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{pin_brand_online_revenue}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{pin_brand_instore_revenue}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{pin_brand_online_perc_sales}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{pin_brand_instore_perc_sales}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6FE7541A-7BD3-916B-37FC-044EA070C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7142351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{pin_gross_spend}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{pin_fsku_roas}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{pin_fsku_roi}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{pin_fsku_online_revenue}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{pin_fsku_instore_revenue}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{pin_online_perc_sales_meta}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{pin_instore_perc_sales_meta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7004DFCB-5C21-9D98-CCCC-537BDFB2BA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Pinterest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{campaign_objective_2}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{how_objective_2_was_met_commentary}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{campaign_objective_1}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{how_objective_1_was_met_commentary}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g339d57e8f9a_0_255"/>
          <p:cNvSpPr/>
          <p:nvPr/>
        </p:nvSpPr>
        <p:spPr>
          <a:xfrm>
            <a:off x="456149" y="2079762"/>
            <a:ext cx="2530800" cy="41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Pinterest drove a stronger RO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 performance, whilst Meta saw a stronger CTR and more cost-efficient CPM. This performance is a consistent trend across A360 premium </a:t>
            </a:r>
            <a:r>
              <a:rPr lang="en-US" sz="1050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strike="noStrike" cap="none" dirty="0">
                <a:solidFill>
                  <a:srgbClr val="100228"/>
                </a:solidFill>
                <a:latin typeface="Poppins"/>
                <a:ea typeface="Poppins"/>
                <a:cs typeface="Poppins"/>
                <a:sym typeface="Poppins"/>
              </a:rPr>
              <a:t>campaigns. </a:t>
            </a:r>
            <a:endParaRPr sz="1050" b="0" i="0" strike="noStrike" cap="none" dirty="0">
              <a:solidFill>
                <a:srgbClr val="10022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 </a:t>
            </a:r>
            <a:endParaRPr sz="10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Given the channels’ different strengths for premium </a:t>
            </a:r>
            <a:r>
              <a:rPr lang="en-US" sz="105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fragrance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campaigns, c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ontinue </a:t>
            </a:r>
            <a:r>
              <a:rPr lang="en-US" sz="105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activating a multi-channel approach for future campaigns with a similar campaign objective. </a:t>
            </a:r>
            <a:endParaRPr sz="105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5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